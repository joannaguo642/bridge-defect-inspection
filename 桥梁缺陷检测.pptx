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theme/theme11.xml" ContentType="application/vnd.openxmlformats-officedocument.theme+xml"/>
  <Override PartName="/ppt/slideLayouts/slideLayout22.xml" ContentType="application/vnd.openxmlformats-officedocument.presentationml.slideLayout+xml"/>
  <Override PartName="/ppt/theme/theme12.xml" ContentType="application/vnd.openxmlformats-officedocument.theme+xml"/>
  <Override PartName="/ppt/slideLayouts/slideLayout23.xml" ContentType="application/vnd.openxmlformats-officedocument.presentationml.slideLayout+xml"/>
  <Override PartName="/ppt/theme/theme13.xml" ContentType="application/vnd.openxmlformats-officedocument.theme+xml"/>
  <Override PartName="/ppt/slideLayouts/slideLayout24.xml" ContentType="application/vnd.openxmlformats-officedocument.presentationml.slideLayout+xml"/>
  <Override PartName="/ppt/theme/theme14.xml" ContentType="application/vnd.openxmlformats-officedocument.theme+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theme/theme16.xml" ContentType="application/vnd.openxmlformats-officedocument.theme+xml"/>
  <Override PartName="/ppt/slideLayouts/slideLayout27.xml" ContentType="application/vnd.openxmlformats-officedocument.presentationml.slideLayout+xml"/>
  <Override PartName="/ppt/theme/theme17.xml" ContentType="application/vnd.openxmlformats-officedocument.theme+xml"/>
  <Override PartName="/ppt/slideLayouts/slideLayout28.xml" ContentType="application/vnd.openxmlformats-officedocument.presentationml.slideLayout+xml"/>
  <Override PartName="/ppt/theme/theme18.xml" ContentType="application/vnd.openxmlformats-officedocument.theme+xml"/>
  <Override PartName="/ppt/slideLayouts/slideLayout29.xml" ContentType="application/vnd.openxmlformats-officedocument.presentationml.slideLayout+xml"/>
  <Override PartName="/ppt/theme/theme19.xml" ContentType="application/vnd.openxmlformats-officedocument.theme+xml"/>
  <Override PartName="/ppt/slideLayouts/slideLayout30.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 id="2147483666" r:id="rId5"/>
    <p:sldMasterId id="2147483668" r:id="rId6"/>
    <p:sldMasterId id="2147483670" r:id="rId7"/>
    <p:sldMasterId id="2147483672" r:id="rId8"/>
    <p:sldMasterId id="2147483674" r:id="rId9"/>
    <p:sldMasterId id="2147483676" r:id="rId10"/>
    <p:sldMasterId id="2147483678" r:id="rId11"/>
    <p:sldMasterId id="2147483680" r:id="rId12"/>
    <p:sldMasterId id="2147483682" r:id="rId13"/>
    <p:sldMasterId id="2147483684" r:id="rId14"/>
    <p:sldMasterId id="2147483686" r:id="rId15"/>
    <p:sldMasterId id="2147483688" r:id="rId16"/>
    <p:sldMasterId id="2147483690" r:id="rId17"/>
    <p:sldMasterId id="2147483692" r:id="rId18"/>
    <p:sldMasterId id="2147483694" r:id="rId19"/>
    <p:sldMasterId id="2147483696" r:id="rId20"/>
  </p:sldMasterIdLst>
  <p:notesMasterIdLst>
    <p:notesMasterId r:id="rId54"/>
  </p:notesMasterIdLst>
  <p:sldIdLst>
    <p:sldId id="256" r:id="rId21"/>
    <p:sldId id="257" r:id="rId22"/>
    <p:sldId id="258" r:id="rId23"/>
    <p:sldId id="259" r:id="rId24"/>
    <p:sldId id="260" r:id="rId25"/>
    <p:sldId id="261" r:id="rId26"/>
    <p:sldId id="264" r:id="rId27"/>
    <p:sldId id="267" r:id="rId28"/>
    <p:sldId id="271" r:id="rId29"/>
    <p:sldId id="262" r:id="rId30"/>
    <p:sldId id="263" r:id="rId31"/>
    <p:sldId id="272" r:id="rId32"/>
    <p:sldId id="289" r:id="rId33"/>
    <p:sldId id="265" r:id="rId34"/>
    <p:sldId id="266" r:id="rId35"/>
    <p:sldId id="268" r:id="rId36"/>
    <p:sldId id="269" r:id="rId37"/>
    <p:sldId id="273" r:id="rId38"/>
    <p:sldId id="274" r:id="rId39"/>
    <p:sldId id="275"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70" r:id="rId5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8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509" autoAdjust="0"/>
  </p:normalViewPr>
  <p:slideViewPr>
    <p:cSldViewPr snapToGrid="0" showGuides="1">
      <p:cViewPr varScale="1">
        <p:scale>
          <a:sx n="76" d="100"/>
          <a:sy n="76" d="100"/>
        </p:scale>
        <p:origin x="1352" y="52"/>
      </p:cViewPr>
      <p:guideLst>
        <p:guide orient="horz" pos="1680"/>
        <p:guide pos="29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39" Type="http://schemas.openxmlformats.org/officeDocument/2006/relationships/slide" Target="slides/slide19.xml"/><Relationship Id="rId21" Type="http://schemas.openxmlformats.org/officeDocument/2006/relationships/slide" Target="slides/slide1.xml"/><Relationship Id="rId34" Type="http://schemas.openxmlformats.org/officeDocument/2006/relationships/slide" Target="slides/slide14.xml"/><Relationship Id="rId42" Type="http://schemas.openxmlformats.org/officeDocument/2006/relationships/slide" Target="slides/slide22.xml"/><Relationship Id="rId47" Type="http://schemas.openxmlformats.org/officeDocument/2006/relationships/slide" Target="slides/slide27.xml"/><Relationship Id="rId50" Type="http://schemas.openxmlformats.org/officeDocument/2006/relationships/slide" Target="slides/slide30.xml"/><Relationship Id="rId55"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slide" Target="slides/slide13.xml"/><Relationship Id="rId38" Type="http://schemas.openxmlformats.org/officeDocument/2006/relationships/slide" Target="slides/slide18.xml"/><Relationship Id="rId46" Type="http://schemas.openxmlformats.org/officeDocument/2006/relationships/slide" Target="slides/slide26.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41" Type="http://schemas.openxmlformats.org/officeDocument/2006/relationships/slide" Target="slides/slide21.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slide" Target="slides/slide12.xml"/><Relationship Id="rId37" Type="http://schemas.openxmlformats.org/officeDocument/2006/relationships/slide" Target="slides/slide17.xml"/><Relationship Id="rId40" Type="http://schemas.openxmlformats.org/officeDocument/2006/relationships/slide" Target="slides/slide20.xml"/><Relationship Id="rId45" Type="http://schemas.openxmlformats.org/officeDocument/2006/relationships/slide" Target="slides/slide25.xml"/><Relationship Id="rId53" Type="http://schemas.openxmlformats.org/officeDocument/2006/relationships/slide" Target="slides/slide33.xml"/><Relationship Id="rId58"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slide" Target="slides/slide16.xml"/><Relationship Id="rId49" Type="http://schemas.openxmlformats.org/officeDocument/2006/relationships/slide" Target="slides/slide29.xml"/><Relationship Id="rId57"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1.xml"/><Relationship Id="rId44" Type="http://schemas.openxmlformats.org/officeDocument/2006/relationships/slide" Target="slides/slide24.xml"/><Relationship Id="rId52" Type="http://schemas.openxmlformats.org/officeDocument/2006/relationships/slide" Target="slides/slide3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slide" Target="slides/slide15.xml"/><Relationship Id="rId43" Type="http://schemas.openxmlformats.org/officeDocument/2006/relationships/slide" Target="slides/slide23.xml"/><Relationship Id="rId48" Type="http://schemas.openxmlformats.org/officeDocument/2006/relationships/slide" Target="slides/slide28.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当然，机遇总是与挑战并存。接下来，我们将进入第二部分，客观地分析项目在技术、市场和实施过程中可能遇到的风险，并阐述我们的应对策略。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image" Target="../media/image2.jpe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tags" Target="../tags/tag4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notesSlide" Target="../notesSlides/notesSlide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slideLayout" Target="../slideLayouts/slideLayout1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6.svg"/><Relationship Id="rId4" Type="http://schemas.openxmlformats.org/officeDocument/2006/relationships/image" Target="../media/image7.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jpe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6.svg"/><Relationship Id="rId10"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28.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6.svg"/><Relationship Id="rId4" Type="http://schemas.openxmlformats.org/officeDocument/2006/relationships/image" Target="../media/image22.jpe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4.svg"/><Relationship Id="rId18" Type="http://schemas.openxmlformats.org/officeDocument/2006/relationships/image" Target="../media/image39.png"/><Relationship Id="rId3" Type="http://schemas.openxmlformats.org/officeDocument/2006/relationships/image" Target="../media/image2.jpeg"/><Relationship Id="rId21" Type="http://schemas.openxmlformats.org/officeDocument/2006/relationships/image" Target="../media/image42.svg"/><Relationship Id="rId7" Type="http://schemas.openxmlformats.org/officeDocument/2006/relationships/image" Target="../media/image32.svg"/><Relationship Id="rId12" Type="http://schemas.openxmlformats.org/officeDocument/2006/relationships/image" Target="../media/image33.png"/><Relationship Id="rId17" Type="http://schemas.openxmlformats.org/officeDocument/2006/relationships/image" Target="../media/image38.svg"/><Relationship Id="rId2" Type="http://schemas.openxmlformats.org/officeDocument/2006/relationships/notesSlide" Target="../notesSlides/notesSlide10.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31.png"/><Relationship Id="rId11" Type="http://schemas.openxmlformats.org/officeDocument/2006/relationships/image" Target="../media/image17.svg"/><Relationship Id="rId5" Type="http://schemas.openxmlformats.org/officeDocument/2006/relationships/image" Target="../media/image30.svg"/><Relationship Id="rId15" Type="http://schemas.openxmlformats.org/officeDocument/2006/relationships/image" Target="../media/image36.svg"/><Relationship Id="rId10" Type="http://schemas.openxmlformats.org/officeDocument/2006/relationships/image" Target="../media/image16.png"/><Relationship Id="rId19" Type="http://schemas.openxmlformats.org/officeDocument/2006/relationships/image" Target="../media/image40.svg"/><Relationship Id="rId4" Type="http://schemas.openxmlformats.org/officeDocument/2006/relationships/image" Target="../media/image29.png"/><Relationship Id="rId9" Type="http://schemas.openxmlformats.org/officeDocument/2006/relationships/image" Target="../media/image24.svg"/><Relationship Id="rId14"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image" Target="../media/image2.jpeg"/><Relationship Id="rId3" Type="http://schemas.openxmlformats.org/officeDocument/2006/relationships/tags" Target="../tags/tag46.xml"/><Relationship Id="rId21" Type="http://schemas.openxmlformats.org/officeDocument/2006/relationships/image" Target="../media/image18.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notesSlide" Target="../notesSlides/notesSlide11.xml"/><Relationship Id="rId25" Type="http://schemas.openxmlformats.org/officeDocument/2006/relationships/image" Target="../media/image45.png"/><Relationship Id="rId2" Type="http://schemas.openxmlformats.org/officeDocument/2006/relationships/tags" Target="../tags/tag45.xml"/><Relationship Id="rId16" Type="http://schemas.openxmlformats.org/officeDocument/2006/relationships/slideLayout" Target="../slideLayouts/slideLayout12.xml"/><Relationship Id="rId20" Type="http://schemas.openxmlformats.org/officeDocument/2006/relationships/image" Target="../media/image32.sv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image" Target="../media/image44.svg"/><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image" Target="../media/image43.png"/><Relationship Id="rId10" Type="http://schemas.openxmlformats.org/officeDocument/2006/relationships/tags" Target="../tags/tag53.xml"/><Relationship Id="rId19" Type="http://schemas.openxmlformats.org/officeDocument/2006/relationships/image" Target="../media/image31.pn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30.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 Type="http://schemas.openxmlformats.org/officeDocument/2006/relationships/tags" Target="../tags/tag61.xml"/><Relationship Id="rId21" Type="http://schemas.openxmlformats.org/officeDocument/2006/relationships/tags" Target="../tags/tag79.xml"/><Relationship Id="rId34" Type="http://schemas.openxmlformats.org/officeDocument/2006/relationships/image" Target="../media/image31.png"/><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33" Type="http://schemas.openxmlformats.org/officeDocument/2006/relationships/image" Target="../media/image2.jpeg"/><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29" Type="http://schemas.openxmlformats.org/officeDocument/2006/relationships/tags" Target="../tags/tag87.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tags" Target="../tags/tag82.xml"/><Relationship Id="rId32" Type="http://schemas.openxmlformats.org/officeDocument/2006/relationships/notesSlide" Target="../notesSlides/notesSlide14.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slideLayout" Target="../slideLayouts/slideLayout12.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tags" Target="../tags/tag88.xml"/><Relationship Id="rId35"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8.wmf"/><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package" Target="../embeddings/Microsoft_Excel_Worksheet.xlsx"/><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52.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0.xml"/><Relationship Id="rId5" Type="http://schemas.openxmlformats.org/officeDocument/2006/relationships/image" Target="../media/image56.wmf"/><Relationship Id="rId4" Type="http://schemas.openxmlformats.org/officeDocument/2006/relationships/package" Target="../embeddings/Microsoft_Word_Document.docx"/></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8.wmf"/><Relationship Id="rId2" Type="http://schemas.openxmlformats.org/officeDocument/2006/relationships/notesSlide" Target="../notesSlides/notesSlide25.xml"/><Relationship Id="rId1" Type="http://schemas.openxmlformats.org/officeDocument/2006/relationships/slideLayout" Target="../slideLayouts/slideLayout22.xml"/><Relationship Id="rId6" Type="http://schemas.openxmlformats.org/officeDocument/2006/relationships/package" Target="../embeddings/Microsoft_Word_Document2.docx"/><Relationship Id="rId5" Type="http://schemas.openxmlformats.org/officeDocument/2006/relationships/image" Target="../media/image57.wmf"/><Relationship Id="rId4" Type="http://schemas.openxmlformats.org/officeDocument/2006/relationships/package" Target="../embeddings/Microsoft_Word_Document1.docx"/></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0.wmf"/><Relationship Id="rId2" Type="http://schemas.openxmlformats.org/officeDocument/2006/relationships/notesSlide" Target="../notesSlides/notesSlide27.xml"/><Relationship Id="rId1" Type="http://schemas.openxmlformats.org/officeDocument/2006/relationships/slideLayout" Target="../slideLayouts/slideLayout24.xml"/><Relationship Id="rId6" Type="http://schemas.openxmlformats.org/officeDocument/2006/relationships/package" Target="../embeddings/Microsoft_Excel_Worksheet3.xlsx"/><Relationship Id="rId5" Type="http://schemas.openxmlformats.org/officeDocument/2006/relationships/image" Target="../media/image59.w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6.xml"/><Relationship Id="rId5" Type="http://schemas.openxmlformats.org/officeDocument/2006/relationships/image" Target="../media/image61.w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2.jpeg"/><Relationship Id="rId5" Type="http://schemas.openxmlformats.org/officeDocument/2006/relationships/notesSlide" Target="../notesSlides/notesSlide32.xml"/><Relationship Id="rId4"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540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基于YOLOV的桥梁缺陷智能检测项目</a:t>
            </a:r>
            <a:endParaRPr lang="en-US" sz="1100" dirty="0"/>
          </a:p>
        </p:txBody>
      </p:sp>
      <p:sp>
        <p:nvSpPr>
          <p:cNvPr id="4" name="AutoShape 4"/>
          <p:cNvSpPr/>
          <p:nvPr/>
        </p:nvSpPr>
        <p:spPr>
          <a:xfrm>
            <a:off x="762000" y="3937000"/>
            <a:ext cx="1016000" cy="508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431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nvSpPr>
        <p:spPr>
          <a:xfrm>
            <a:off x="762000" y="546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2026年6月26日</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6"/>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custDataLst>
              <p:tags r:id="rId1"/>
            </p:custDataLst>
          </p:nvPr>
        </p:nvSpPr>
        <p:spPr>
          <a:xfrm>
            <a:off x="696595" y="1136650"/>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697230" y="1143000"/>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916940" y="1219200"/>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p>
        </p:txBody>
      </p:sp>
      <p:cxnSp>
        <p:nvCxnSpPr>
          <p:cNvPr id="7" name="Connector 7"/>
          <p:cNvCxnSpPr/>
          <p:nvPr>
            <p:custDataLst>
              <p:tags r:id="rId4"/>
            </p:custDataLst>
          </p:nvPr>
        </p:nvCxnSpPr>
        <p:spPr>
          <a:xfrm>
            <a:off x="696595" y="1929130"/>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8" name="AutoShape 8"/>
          <p:cNvSpPr/>
          <p:nvPr>
            <p:custDataLst>
              <p:tags r:id="rId5"/>
            </p:custDataLst>
          </p:nvPr>
        </p:nvSpPr>
        <p:spPr>
          <a:xfrm>
            <a:off x="762000" y="1930400"/>
            <a:ext cx="1887855"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市场需求分析</a:t>
            </a: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，与项目风险分析</a:t>
            </a:r>
          </a:p>
        </p:txBody>
      </p:sp>
      <p:sp>
        <p:nvSpPr>
          <p:cNvPr id="9" name="AutoShape 9"/>
          <p:cNvSpPr/>
          <p:nvPr>
            <p:custDataLst>
              <p:tags r:id="rId6"/>
            </p:custDataLst>
          </p:nvPr>
        </p:nvSpPr>
        <p:spPr>
          <a:xfrm>
            <a:off x="1016000" y="4826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15" name="AutoShape 15"/>
          <p:cNvSpPr/>
          <p:nvPr>
            <p:custDataLst>
              <p:tags r:id="rId7"/>
            </p:custDataLst>
          </p:nvPr>
        </p:nvSpPr>
        <p:spPr>
          <a:xfrm>
            <a:off x="4646930" y="474345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21" name="AutoShape 21"/>
          <p:cNvSpPr/>
          <p:nvPr>
            <p:custDataLst>
              <p:tags r:id="rId8"/>
            </p:custDataLst>
          </p:nvPr>
        </p:nvSpPr>
        <p:spPr>
          <a:xfrm>
            <a:off x="8305800" y="4826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24" name="AutoShape 4"/>
          <p:cNvSpPr/>
          <p:nvPr>
            <p:custDataLst>
              <p:tags r:id="rId9"/>
            </p:custDataLst>
          </p:nvPr>
        </p:nvSpPr>
        <p:spPr>
          <a:xfrm>
            <a:off x="3886200" y="1143000"/>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25" name="AutoShape 5"/>
          <p:cNvSpPr/>
          <p:nvPr>
            <p:custDataLst>
              <p:tags r:id="rId10"/>
            </p:custDataLst>
          </p:nvPr>
        </p:nvSpPr>
        <p:spPr>
          <a:xfrm>
            <a:off x="3886200" y="1149350"/>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6"/>
          <p:cNvSpPr/>
          <p:nvPr>
            <p:custDataLst>
              <p:tags r:id="rId11"/>
            </p:custDataLst>
          </p:nvPr>
        </p:nvSpPr>
        <p:spPr>
          <a:xfrm>
            <a:off x="4105910" y="1225550"/>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p>
        </p:txBody>
      </p:sp>
      <p:cxnSp>
        <p:nvCxnSpPr>
          <p:cNvPr id="27" name="Connector 7"/>
          <p:cNvCxnSpPr/>
          <p:nvPr>
            <p:custDataLst>
              <p:tags r:id="rId12"/>
            </p:custDataLst>
          </p:nvPr>
        </p:nvCxnSpPr>
        <p:spPr>
          <a:xfrm>
            <a:off x="3885565" y="1935480"/>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8" name="AutoShape 8"/>
          <p:cNvSpPr/>
          <p:nvPr>
            <p:custDataLst>
              <p:tags r:id="rId13"/>
            </p:custDataLst>
          </p:nvPr>
        </p:nvSpPr>
        <p:spPr>
          <a:xfrm>
            <a:off x="3886200" y="1936750"/>
            <a:ext cx="2059305"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软件需求分析</a:t>
            </a:r>
          </a:p>
        </p:txBody>
      </p:sp>
      <p:sp>
        <p:nvSpPr>
          <p:cNvPr id="29" name="AutoShape 4"/>
          <p:cNvSpPr/>
          <p:nvPr>
            <p:custDataLst>
              <p:tags r:id="rId14"/>
            </p:custDataLst>
          </p:nvPr>
        </p:nvSpPr>
        <p:spPr>
          <a:xfrm>
            <a:off x="6838315" y="1136650"/>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30" name="AutoShape 5"/>
          <p:cNvSpPr/>
          <p:nvPr>
            <p:custDataLst>
              <p:tags r:id="rId15"/>
            </p:custDataLst>
          </p:nvPr>
        </p:nvSpPr>
        <p:spPr>
          <a:xfrm>
            <a:off x="6838950" y="1143000"/>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6"/>
          <p:cNvSpPr/>
          <p:nvPr>
            <p:custDataLst>
              <p:tags r:id="rId16"/>
            </p:custDataLst>
          </p:nvPr>
        </p:nvSpPr>
        <p:spPr>
          <a:xfrm>
            <a:off x="7058660" y="1219200"/>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p>
        </p:txBody>
      </p:sp>
      <p:cxnSp>
        <p:nvCxnSpPr>
          <p:cNvPr id="32" name="Connector 7"/>
          <p:cNvCxnSpPr/>
          <p:nvPr>
            <p:custDataLst>
              <p:tags r:id="rId17"/>
            </p:custDataLst>
          </p:nvPr>
        </p:nvCxnSpPr>
        <p:spPr>
          <a:xfrm>
            <a:off x="6838315" y="1929130"/>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3" name="AutoShape 8"/>
          <p:cNvSpPr/>
          <p:nvPr>
            <p:custDataLst>
              <p:tags r:id="rId18"/>
            </p:custDataLst>
          </p:nvPr>
        </p:nvSpPr>
        <p:spPr>
          <a:xfrm>
            <a:off x="6838315" y="1930400"/>
            <a:ext cx="2060575"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总体设计</a:t>
            </a:r>
          </a:p>
        </p:txBody>
      </p:sp>
      <p:sp>
        <p:nvSpPr>
          <p:cNvPr id="34" name="AutoShape 4"/>
          <p:cNvSpPr/>
          <p:nvPr>
            <p:custDataLst>
              <p:tags r:id="rId19"/>
            </p:custDataLst>
          </p:nvPr>
        </p:nvSpPr>
        <p:spPr>
          <a:xfrm>
            <a:off x="9874885" y="1136650"/>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35" name="AutoShape 5"/>
          <p:cNvSpPr/>
          <p:nvPr>
            <p:custDataLst>
              <p:tags r:id="rId20"/>
            </p:custDataLst>
          </p:nvPr>
        </p:nvSpPr>
        <p:spPr>
          <a:xfrm>
            <a:off x="9875520" y="1143000"/>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6"/>
          <p:cNvSpPr/>
          <p:nvPr>
            <p:custDataLst>
              <p:tags r:id="rId21"/>
            </p:custDataLst>
          </p:nvPr>
        </p:nvSpPr>
        <p:spPr>
          <a:xfrm>
            <a:off x="10095230" y="1219200"/>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p>
        </p:txBody>
      </p:sp>
      <p:cxnSp>
        <p:nvCxnSpPr>
          <p:cNvPr id="37" name="Connector 7"/>
          <p:cNvCxnSpPr/>
          <p:nvPr>
            <p:custDataLst>
              <p:tags r:id="rId22"/>
            </p:custDataLst>
          </p:nvPr>
        </p:nvCxnSpPr>
        <p:spPr>
          <a:xfrm>
            <a:off x="9874885" y="1929130"/>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8" name="AutoShape 8"/>
          <p:cNvSpPr/>
          <p:nvPr>
            <p:custDataLst>
              <p:tags r:id="rId23"/>
            </p:custDataLst>
          </p:nvPr>
        </p:nvSpPr>
        <p:spPr>
          <a:xfrm>
            <a:off x="9957435" y="1930400"/>
            <a:ext cx="1977390"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详细设计</a:t>
            </a:r>
          </a:p>
        </p:txBody>
      </p:sp>
      <p:sp>
        <p:nvSpPr>
          <p:cNvPr id="39" name="AutoShape 4"/>
          <p:cNvSpPr/>
          <p:nvPr>
            <p:custDataLst>
              <p:tags r:id="rId24"/>
            </p:custDataLst>
          </p:nvPr>
        </p:nvSpPr>
        <p:spPr>
          <a:xfrm>
            <a:off x="697230" y="3886835"/>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40" name="AutoShape 5"/>
          <p:cNvSpPr/>
          <p:nvPr>
            <p:custDataLst>
              <p:tags r:id="rId25"/>
            </p:custDataLst>
          </p:nvPr>
        </p:nvSpPr>
        <p:spPr>
          <a:xfrm>
            <a:off x="696595" y="3893185"/>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6"/>
          <p:cNvSpPr/>
          <p:nvPr>
            <p:custDataLst>
              <p:tags r:id="rId26"/>
            </p:custDataLst>
          </p:nvPr>
        </p:nvSpPr>
        <p:spPr>
          <a:xfrm>
            <a:off x="982345" y="3963035"/>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p>
        </p:txBody>
      </p:sp>
      <p:cxnSp>
        <p:nvCxnSpPr>
          <p:cNvPr id="42" name="Connector 7"/>
          <p:cNvCxnSpPr/>
          <p:nvPr>
            <p:custDataLst>
              <p:tags r:id="rId27"/>
            </p:custDataLst>
          </p:nvPr>
        </p:nvCxnSpPr>
        <p:spPr>
          <a:xfrm>
            <a:off x="762000" y="4672965"/>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43" name="AutoShape 8"/>
          <p:cNvSpPr/>
          <p:nvPr>
            <p:custDataLst>
              <p:tags r:id="rId28"/>
            </p:custDataLst>
          </p:nvPr>
        </p:nvSpPr>
        <p:spPr>
          <a:xfrm>
            <a:off x="844550" y="4674235"/>
            <a:ext cx="1977390"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软件实现</a:t>
            </a:r>
          </a:p>
        </p:txBody>
      </p:sp>
      <p:sp>
        <p:nvSpPr>
          <p:cNvPr id="44" name="AutoShape 4"/>
          <p:cNvSpPr/>
          <p:nvPr>
            <p:custDataLst>
              <p:tags r:id="rId29"/>
            </p:custDataLst>
          </p:nvPr>
        </p:nvSpPr>
        <p:spPr>
          <a:xfrm>
            <a:off x="3871595" y="3880485"/>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45" name="AutoShape 5"/>
          <p:cNvSpPr/>
          <p:nvPr>
            <p:custDataLst>
              <p:tags r:id="rId30"/>
            </p:custDataLst>
          </p:nvPr>
        </p:nvSpPr>
        <p:spPr>
          <a:xfrm>
            <a:off x="3872230" y="3886835"/>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6"/>
          <p:cNvSpPr/>
          <p:nvPr>
            <p:custDataLst>
              <p:tags r:id="rId31"/>
            </p:custDataLst>
          </p:nvPr>
        </p:nvSpPr>
        <p:spPr>
          <a:xfrm>
            <a:off x="4091940" y="3963035"/>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p>
        </p:txBody>
      </p:sp>
      <p:cxnSp>
        <p:nvCxnSpPr>
          <p:cNvPr id="47" name="Connector 7"/>
          <p:cNvCxnSpPr/>
          <p:nvPr>
            <p:custDataLst>
              <p:tags r:id="rId32"/>
            </p:custDataLst>
          </p:nvPr>
        </p:nvCxnSpPr>
        <p:spPr>
          <a:xfrm>
            <a:off x="3871595" y="4672965"/>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48" name="AutoShape 8"/>
          <p:cNvSpPr/>
          <p:nvPr>
            <p:custDataLst>
              <p:tags r:id="rId33"/>
            </p:custDataLst>
          </p:nvPr>
        </p:nvSpPr>
        <p:spPr>
          <a:xfrm>
            <a:off x="3954145" y="4674235"/>
            <a:ext cx="1977390"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产品单元模块测试</a:t>
            </a:r>
          </a:p>
        </p:txBody>
      </p:sp>
      <p:sp>
        <p:nvSpPr>
          <p:cNvPr id="49" name="AutoShape 4"/>
          <p:cNvSpPr/>
          <p:nvPr>
            <p:custDataLst>
              <p:tags r:id="rId34"/>
            </p:custDataLst>
          </p:nvPr>
        </p:nvSpPr>
        <p:spPr>
          <a:xfrm>
            <a:off x="6810375" y="3893185"/>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50" name="AutoShape 5"/>
          <p:cNvSpPr/>
          <p:nvPr>
            <p:custDataLst>
              <p:tags r:id="rId35"/>
            </p:custDataLst>
          </p:nvPr>
        </p:nvSpPr>
        <p:spPr>
          <a:xfrm>
            <a:off x="6811010" y="3899535"/>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6"/>
          <p:cNvSpPr/>
          <p:nvPr>
            <p:custDataLst>
              <p:tags r:id="rId36"/>
            </p:custDataLst>
          </p:nvPr>
        </p:nvSpPr>
        <p:spPr>
          <a:xfrm>
            <a:off x="6997065" y="3893185"/>
            <a:ext cx="563880" cy="5753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p>
        </p:txBody>
      </p:sp>
      <p:cxnSp>
        <p:nvCxnSpPr>
          <p:cNvPr id="52" name="Connector 7"/>
          <p:cNvCxnSpPr/>
          <p:nvPr>
            <p:custDataLst>
              <p:tags r:id="rId37"/>
            </p:custDataLst>
          </p:nvPr>
        </p:nvCxnSpPr>
        <p:spPr>
          <a:xfrm>
            <a:off x="6810375" y="4685665"/>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53" name="AutoShape 8"/>
          <p:cNvSpPr/>
          <p:nvPr>
            <p:custDataLst>
              <p:tags r:id="rId38"/>
            </p:custDataLst>
          </p:nvPr>
        </p:nvSpPr>
        <p:spPr>
          <a:xfrm>
            <a:off x="6892925" y="4686935"/>
            <a:ext cx="1977390"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产品总体测试</a:t>
            </a:r>
          </a:p>
        </p:txBody>
      </p:sp>
      <p:sp>
        <p:nvSpPr>
          <p:cNvPr id="54" name="AutoShape 4"/>
          <p:cNvSpPr/>
          <p:nvPr>
            <p:custDataLst>
              <p:tags r:id="rId39"/>
            </p:custDataLst>
          </p:nvPr>
        </p:nvSpPr>
        <p:spPr>
          <a:xfrm>
            <a:off x="9860915" y="3893185"/>
            <a:ext cx="2059305" cy="184531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55" name="AutoShape 5"/>
          <p:cNvSpPr/>
          <p:nvPr>
            <p:custDataLst>
              <p:tags r:id="rId40"/>
            </p:custDataLst>
          </p:nvPr>
        </p:nvSpPr>
        <p:spPr>
          <a:xfrm>
            <a:off x="9875520" y="3905885"/>
            <a:ext cx="2059305"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6"/>
          <p:cNvSpPr/>
          <p:nvPr>
            <p:custDataLst>
              <p:tags r:id="rId41"/>
            </p:custDataLst>
          </p:nvPr>
        </p:nvSpPr>
        <p:spPr>
          <a:xfrm>
            <a:off x="10095230" y="3982085"/>
            <a:ext cx="544195" cy="5054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46E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p>
        </p:txBody>
      </p:sp>
      <p:cxnSp>
        <p:nvCxnSpPr>
          <p:cNvPr id="57" name="Connector 7"/>
          <p:cNvCxnSpPr/>
          <p:nvPr>
            <p:custDataLst>
              <p:tags r:id="rId42"/>
            </p:custDataLst>
          </p:nvPr>
        </p:nvCxnSpPr>
        <p:spPr>
          <a:xfrm>
            <a:off x="9874885" y="4692015"/>
            <a:ext cx="2045335" cy="1905"/>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58" name="AutoShape 8"/>
          <p:cNvSpPr/>
          <p:nvPr>
            <p:custDataLst>
              <p:tags r:id="rId43"/>
            </p:custDataLst>
          </p:nvPr>
        </p:nvSpPr>
        <p:spPr>
          <a:xfrm>
            <a:off x="9957435" y="4693285"/>
            <a:ext cx="1977390" cy="105156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产品发布</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市场需求分析</a:t>
            </a: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与项目风险分析</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千亿级市场下的技术变革机遇，桥梁检测行业正从传统人工向智能自动化转型，</a:t>
            </a:r>
            <a:br>
              <a:rPr 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技术创新将重构行业标准与商业价值。</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市场需求分析：执行摘要</a:t>
            </a:r>
            <a:endParaRPr lang="en-US" sz="1100"/>
          </a:p>
        </p:txBody>
      </p:sp>
      <p:sp>
        <p:nvSpPr>
          <p:cNvPr id="4" name="AutoShape 4"/>
          <p:cNvSpPr/>
          <p:nvPr/>
        </p:nvSpPr>
        <p:spPr>
          <a:xfrm>
            <a:off x="762000" y="1651000"/>
            <a:ext cx="5207000" cy="209550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76200" cy="2095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01 千亿级蓝海市场，增长势头迅猛</a:t>
            </a:r>
            <a:endParaRPr lang="en-US" sz="1100"/>
          </a:p>
        </p:txBody>
      </p:sp>
      <p:cxnSp>
        <p:nvCxnSpPr>
          <p:cNvPr id="7" name="Connector 7"/>
          <p:cNvCxnSpPr/>
          <p:nvPr/>
        </p:nvCxnSpPr>
        <p:spPr>
          <a:xfrm rot="-9291">
            <a:off x="1016009" y="227965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8" name="AutoShape 8"/>
          <p:cNvSpPr/>
          <p:nvPr/>
        </p:nvSpPr>
        <p:spPr>
          <a:xfrm>
            <a:off x="1016000" y="2476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97.2</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亿元</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2026年中国桥梁检测市场预计规模，存量与增量需求双重释放</a:t>
            </a:r>
          </a:p>
        </p:txBody>
      </p:sp>
      <p:cxnSp>
        <p:nvCxnSpPr>
          <p:cNvPr id="9" name="Connector 9"/>
          <p:cNvCxnSpPr/>
          <p:nvPr/>
        </p:nvCxnSpPr>
        <p:spPr>
          <a:xfrm rot="5350892">
            <a:off x="2921000" y="2978195"/>
            <a:ext cx="88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nvSpPr>
        <p:spPr>
          <a:xfrm>
            <a:off x="3556000" y="2476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&gt;12%</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CAGR</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行业年复合增长率保持高位，基础设施养护需求进入爆发期</a:t>
            </a:r>
          </a:p>
        </p:txBody>
      </p:sp>
      <p:sp>
        <p:nvSpPr>
          <p:cNvPr id="11" name="AutoShape 11"/>
          <p:cNvSpPr/>
          <p:nvPr/>
        </p:nvSpPr>
        <p:spPr>
          <a:xfrm>
            <a:off x="6223000" y="1651000"/>
            <a:ext cx="5207000" cy="209550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1651000"/>
            <a:ext cx="76200" cy="2095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02 传统检测模式的四大核心痛点</a:t>
            </a:r>
            <a:endParaRPr lang="en-US" sz="1100"/>
          </a:p>
        </p:txBody>
      </p:sp>
      <p:cxnSp>
        <p:nvCxnSpPr>
          <p:cNvPr id="14" name="Connector 14"/>
          <p:cNvCxnSpPr/>
          <p:nvPr/>
        </p:nvCxnSpPr>
        <p:spPr>
          <a:xfrm rot="-9291">
            <a:off x="6477009" y="227965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5" name="AutoShape 15"/>
          <p:cNvSpPr/>
          <p:nvPr/>
        </p:nvSpPr>
        <p:spPr>
          <a:xfrm>
            <a:off x="6477000" y="2413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效率低下 &amp; 成本高昂</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人工检测耗时长，单次费用超十万，资源投入巨大。</a:t>
            </a:r>
          </a:p>
        </p:txBody>
      </p:sp>
      <p:cxnSp>
        <p:nvCxnSpPr>
          <p:cNvPr id="16" name="Connector 16"/>
          <p:cNvCxnSpPr/>
          <p:nvPr/>
        </p:nvCxnSpPr>
        <p:spPr>
          <a:xfrm rot="5323618">
            <a:off x="8604250" y="2755971"/>
            <a:ext cx="571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7" name="AutoShape 17"/>
          <p:cNvSpPr/>
          <p:nvPr/>
        </p:nvSpPr>
        <p:spPr>
          <a:xfrm>
            <a:off x="9017000" y="2413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主观性强 &amp; 风险极高</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微裂纹检出率不足40%，高空作业事故频发，安全隐患大。</a:t>
            </a:r>
          </a:p>
        </p:txBody>
      </p:sp>
      <p:sp>
        <p:nvSpPr>
          <p:cNvPr id="18" name="AutoShape 18"/>
          <p:cNvSpPr/>
          <p:nvPr/>
        </p:nvSpPr>
        <p:spPr>
          <a:xfrm>
            <a:off x="762000" y="4191000"/>
            <a:ext cx="5207000" cy="203200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4191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03 国家政策持续强力驱动行业升级</a:t>
            </a:r>
            <a:endParaRPr lang="en-US" sz="1100"/>
          </a:p>
        </p:txBody>
      </p:sp>
      <p:cxnSp>
        <p:nvCxnSpPr>
          <p:cNvPr id="21" name="Connector 21"/>
          <p:cNvCxnSpPr/>
          <p:nvPr/>
        </p:nvCxnSpPr>
        <p:spPr>
          <a:xfrm rot="-9291">
            <a:off x="1016009" y="481965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080000"/>
            <a:ext cx="304800" cy="304800"/>
          </a:xfrm>
          <a:prstGeom prst="rect">
            <a:avLst/>
          </a:prstGeom>
        </p:spPr>
      </p:pic>
      <p:sp>
        <p:nvSpPr>
          <p:cNvPr id="23" name="AutoShape 23"/>
          <p:cNvSpPr/>
          <p:nvPr/>
        </p:nvSpPr>
        <p:spPr>
          <a:xfrm>
            <a:off x="1460500" y="5054600"/>
            <a:ext cx="425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国家先后出台《数字交通“十四五”发展规划》与2025年修订的《公路桥梁养护管理办法》，明确要求推广智能化检测技术，为行业技术革新提供了坚实的政策保障。</a:t>
            </a:r>
            <a:endParaRPr lang="en-US" sz="1100"/>
          </a:p>
        </p:txBody>
      </p:sp>
      <p:sp>
        <p:nvSpPr>
          <p:cNvPr id="24" name="AutoShape 24"/>
          <p:cNvSpPr/>
          <p:nvPr/>
        </p:nvSpPr>
        <p:spPr>
          <a:xfrm>
            <a:off x="6223000" y="4191000"/>
            <a:ext cx="5207000" cy="2032000"/>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23000" y="4191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4770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04 AI赋能：精准高效的技术破局方案</a:t>
            </a:r>
            <a:endParaRPr lang="en-US" sz="1100"/>
          </a:p>
        </p:txBody>
      </p:sp>
      <p:cxnSp>
        <p:nvCxnSpPr>
          <p:cNvPr id="27" name="Connector 27"/>
          <p:cNvCxnSpPr/>
          <p:nvPr/>
        </p:nvCxnSpPr>
        <p:spPr>
          <a:xfrm rot="-9291">
            <a:off x="6477009" y="481965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pic>
        <p:nvPicPr>
          <p:cNvPr id="28" name="Picture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080000"/>
            <a:ext cx="304800" cy="304800"/>
          </a:xfrm>
          <a:prstGeom prst="rect">
            <a:avLst/>
          </a:prstGeom>
        </p:spPr>
      </p:pic>
      <p:sp>
        <p:nvSpPr>
          <p:cNvPr id="29" name="AutoShape 29"/>
          <p:cNvSpPr/>
          <p:nvPr/>
        </p:nvSpPr>
        <p:spPr>
          <a:xfrm>
            <a:off x="6921500" y="50546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采用YOLOv算法实现准确率&gt;96%、推理效率&gt;120fps；结合无人机与高清相机的自动化巡检模式，将检测效率提升数十倍，彻底解决传统模式的痛点。</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市场规模：刚性需求驱动的蓝海市场</a:t>
            </a:r>
            <a:endParaRPr lang="en-US" sz="1100"/>
          </a:p>
        </p:txBody>
      </p:sp>
      <p:pic>
        <p:nvPicPr>
          <p:cNvPr id="4" name="Picture 4"/>
          <p:cNvPicPr>
            <a:picLocks noChangeAspect="1"/>
          </p:cNvPicPr>
          <p:nvPr/>
        </p:nvPicPr>
        <p:blipFill>
          <a:blip r:embed="rId4"/>
          <a:stretch>
            <a:fillRect/>
          </a:stretch>
        </p:blipFill>
        <p:spPr>
          <a:xfrm>
            <a:off x="762000" y="1778000"/>
            <a:ext cx="4826000" cy="2921000"/>
          </a:xfrm>
          <a:prstGeom prst="rect">
            <a:avLst/>
          </a:prstGeom>
          <a:ln w="12700">
            <a:noFill/>
            <a:prstDash val="solid"/>
          </a:ln>
        </p:spPr>
      </p:pic>
      <p:cxnSp>
        <p:nvCxnSpPr>
          <p:cNvPr id="5" name="Connector 5"/>
          <p:cNvCxnSpPr/>
          <p:nvPr/>
        </p:nvCxnSpPr>
        <p:spPr>
          <a:xfrm rot="5385053">
            <a:off x="4508500" y="3232164"/>
            <a:ext cx="2921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6" name="AutoShape 6"/>
          <p:cNvSpPr/>
          <p:nvPr/>
        </p:nvSpPr>
        <p:spPr>
          <a:xfrm>
            <a:off x="6159500" y="1778000"/>
            <a:ext cx="1854200" cy="29210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968500"/>
            <a:ext cx="406400" cy="406400"/>
          </a:xfrm>
          <a:prstGeom prst="rect">
            <a:avLst/>
          </a:prstGeom>
        </p:spPr>
      </p:pic>
      <p:sp>
        <p:nvSpPr>
          <p:cNvPr id="8" name="AutoShape 8"/>
          <p:cNvSpPr/>
          <p:nvPr/>
        </p:nvSpPr>
        <p:spPr>
          <a:xfrm>
            <a:off x="6286500" y="2603500"/>
            <a:ext cx="160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存量桥梁老龄化</a:t>
            </a:r>
            <a:endParaRPr lang="en-US" sz="1100"/>
          </a:p>
        </p:txBody>
      </p:sp>
      <p:sp>
        <p:nvSpPr>
          <p:cNvPr id="9" name="AutoShape 9"/>
          <p:cNvSpPr/>
          <p:nvPr/>
        </p:nvSpPr>
        <p:spPr>
          <a:xfrm>
            <a:off x="6286500" y="3302000"/>
            <a:ext cx="160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全国超103万座桥梁，其中超20年的老旧桥梁占比达31.5%，结构安全检测需求持续释放。</a:t>
            </a:r>
            <a:endParaRPr lang="en-US" sz="1100"/>
          </a:p>
        </p:txBody>
      </p:sp>
      <p:sp>
        <p:nvSpPr>
          <p:cNvPr id="10" name="AutoShape 10"/>
          <p:cNvSpPr/>
          <p:nvPr/>
        </p:nvSpPr>
        <p:spPr>
          <a:xfrm>
            <a:off x="8166100" y="1778000"/>
            <a:ext cx="1854200" cy="29210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56600" y="1968500"/>
            <a:ext cx="406400" cy="406400"/>
          </a:xfrm>
          <a:prstGeom prst="rect">
            <a:avLst/>
          </a:prstGeom>
        </p:spPr>
      </p:pic>
      <p:sp>
        <p:nvSpPr>
          <p:cNvPr id="12" name="AutoShape 12"/>
          <p:cNvSpPr/>
          <p:nvPr/>
        </p:nvSpPr>
        <p:spPr>
          <a:xfrm>
            <a:off x="8293100" y="2603500"/>
            <a:ext cx="160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检测频次强制提升</a:t>
            </a:r>
            <a:endParaRPr lang="en-US" sz="1100"/>
          </a:p>
        </p:txBody>
      </p:sp>
      <p:sp>
        <p:nvSpPr>
          <p:cNvPr id="13" name="AutoShape 13"/>
          <p:cNvSpPr/>
          <p:nvPr/>
        </p:nvSpPr>
        <p:spPr>
          <a:xfrm>
            <a:off x="8293100" y="3302000"/>
            <a:ext cx="160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新管理办法大幅缩短检测周期，年度有效检测桥次增至52.8万座·次，市场基础总量扩容。</a:t>
            </a:r>
            <a:endParaRPr lang="en-US" sz="1100"/>
          </a:p>
        </p:txBody>
      </p:sp>
      <p:sp>
        <p:nvSpPr>
          <p:cNvPr id="14" name="AutoShape 14"/>
          <p:cNvSpPr/>
          <p:nvPr/>
        </p:nvSpPr>
        <p:spPr>
          <a:xfrm>
            <a:off x="10172700" y="1778000"/>
            <a:ext cx="1854200" cy="29210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63200" y="1968500"/>
            <a:ext cx="406400" cy="406400"/>
          </a:xfrm>
          <a:prstGeom prst="rect">
            <a:avLst/>
          </a:prstGeom>
        </p:spPr>
      </p:pic>
      <p:sp>
        <p:nvSpPr>
          <p:cNvPr id="16" name="AutoShape 16"/>
          <p:cNvSpPr/>
          <p:nvPr/>
        </p:nvSpPr>
        <p:spPr>
          <a:xfrm>
            <a:off x="10299700" y="2603500"/>
            <a:ext cx="160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技术升级带单价</a:t>
            </a:r>
            <a:endParaRPr lang="en-US" sz="1100"/>
          </a:p>
        </p:txBody>
      </p:sp>
      <p:sp>
        <p:nvSpPr>
          <p:cNvPr id="17" name="AutoShape 17"/>
          <p:cNvSpPr/>
          <p:nvPr/>
        </p:nvSpPr>
        <p:spPr>
          <a:xfrm>
            <a:off x="10299700" y="3302000"/>
            <a:ext cx="160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单桥平均检测费升至11.8万元，智能检测模块应用率达57%，推动整体客单价显著提升。</a:t>
            </a:r>
            <a:endParaRPr lang="en-US" sz="1100"/>
          </a:p>
        </p:txBody>
      </p:sp>
      <p:sp>
        <p:nvSpPr>
          <p:cNvPr id="18" name="AutoShape 18"/>
          <p:cNvSpPr/>
          <p:nvPr/>
        </p:nvSpPr>
        <p:spPr>
          <a:xfrm>
            <a:off x="762000" y="5207000"/>
            <a:ext cx="5270500" cy="12065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5207000"/>
            <a:ext cx="76200" cy="1206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334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450</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亿元</a:t>
            </a:r>
            <a:endParaRPr lang="en-US" sz="1100"/>
          </a:p>
        </p:txBody>
      </p:sp>
      <p:cxnSp>
        <p:nvCxnSpPr>
          <p:cNvPr id="21" name="Connector 21"/>
          <p:cNvCxnSpPr/>
          <p:nvPr/>
        </p:nvCxnSpPr>
        <p:spPr>
          <a:xfrm rot="5342709">
            <a:off x="2794000" y="5772203"/>
            <a:ext cx="762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22" name="AutoShape 22"/>
          <p:cNvSpPr/>
          <p:nvPr/>
        </p:nvSpPr>
        <p:spPr>
          <a:xfrm>
            <a:off x="3365500" y="5397500"/>
            <a:ext cx="2476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2025年广义市场规模</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涵盖桥梁检查、维修加固及预防性养护的整体市场体量，市场基数稳健。</a:t>
            </a:r>
          </a:p>
        </p:txBody>
      </p:sp>
      <p:sp>
        <p:nvSpPr>
          <p:cNvPr id="23" name="AutoShape 23"/>
          <p:cNvSpPr/>
          <p:nvPr/>
        </p:nvSpPr>
        <p:spPr>
          <a:xfrm>
            <a:off x="6286500" y="5207000"/>
            <a:ext cx="5270500" cy="12065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86500" y="5207000"/>
            <a:ext cx="76200" cy="1206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540500" y="5334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&gt;700</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亿元</a:t>
            </a:r>
            <a:endParaRPr lang="en-US" sz="1100"/>
          </a:p>
        </p:txBody>
      </p:sp>
      <p:cxnSp>
        <p:nvCxnSpPr>
          <p:cNvPr id="26" name="Connector 26"/>
          <p:cNvCxnSpPr/>
          <p:nvPr/>
        </p:nvCxnSpPr>
        <p:spPr>
          <a:xfrm rot="5342709">
            <a:off x="8318500" y="5772203"/>
            <a:ext cx="762000" cy="12700"/>
          </a:xfrm>
          <a:prstGeom prst="straightConnector1">
            <a:avLst/>
          </a:prstGeom>
          <a:solidFill>
            <a:srgbClr val="DEE0E3">
              <a:alpha val="100000"/>
            </a:srgbClr>
          </a:solidFill>
          <a:ln w="12700" cap="flat" cmpd="sng">
            <a:solidFill>
              <a:srgbClr val="F59E0B">
                <a:alpha val="30000"/>
              </a:srgbClr>
            </a:solidFill>
            <a:prstDash val="solid"/>
            <a:round/>
            <a:headEnd type="none" w="med" len="med"/>
            <a:tailEnd type="none" w="med" len="med"/>
          </a:ln>
        </p:spPr>
      </p:cxnSp>
      <p:sp>
        <p:nvSpPr>
          <p:cNvPr id="27" name="AutoShape 27"/>
          <p:cNvSpPr/>
          <p:nvPr/>
        </p:nvSpPr>
        <p:spPr>
          <a:xfrm>
            <a:off x="8890000" y="5397500"/>
            <a:ext cx="2476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2030年市场规模预测</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随着基础设施更新行动深化，预计市场规模将保持高速增长，迈入百亿级蓝海。</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行业痛点：传统检测模式的四大瓶颈</a:t>
            </a:r>
            <a:endParaRPr lang="en-US" sz="1100"/>
          </a:p>
        </p:txBody>
      </p:sp>
      <p:sp>
        <p:nvSpPr>
          <p:cNvPr id="4" name="AutoShape 4"/>
          <p:cNvSpPr/>
          <p:nvPr/>
        </p:nvSpPr>
        <p:spPr>
          <a:xfrm>
            <a:off x="762000" y="1651000"/>
            <a:ext cx="5270500" cy="2222500"/>
          </a:xfrm>
          <a:prstGeom prst="roundRect">
            <a:avLst>
              <a:gd name="adj" fmla="val 0"/>
            </a:avLst>
          </a:prstGeom>
          <a:solidFill>
            <a:srgbClr val="FFFFFF">
              <a:alpha val="7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16666" r="16666"/>
          <a:stretch>
            <a:fillRect/>
          </a:stretch>
        </p:blipFill>
        <p:spPr>
          <a:xfrm>
            <a:off x="952500" y="1841500"/>
            <a:ext cx="1778000" cy="1778000"/>
          </a:xfrm>
          <a:prstGeom prst="rect">
            <a:avLst/>
          </a:prstGeom>
          <a:noFill/>
          <a:ln w="25400" cap="flat" cmpd="sng">
            <a:noFill/>
            <a:prstDash val="solid"/>
            <a:round/>
          </a:ln>
        </p:spPr>
      </p:pic>
      <p:cxnSp>
        <p:nvCxnSpPr>
          <p:cNvPr id="6" name="Connector 6"/>
          <p:cNvCxnSpPr/>
          <p:nvPr/>
        </p:nvCxnSpPr>
        <p:spPr>
          <a:xfrm rot="5375445">
            <a:off x="2095500" y="2724173"/>
            <a:ext cx="1778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7" name="AutoShape 7"/>
          <p:cNvSpPr/>
          <p:nvPr/>
        </p:nvSpPr>
        <p:spPr>
          <a:xfrm>
            <a:off x="3111500" y="17780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效率瓶颈：耗时耗力</a:t>
            </a:r>
            <a:endParaRPr lang="en-US" sz="1100"/>
          </a:p>
        </p:txBody>
      </p:sp>
      <p:sp>
        <p:nvSpPr>
          <p:cNvPr id="8" name="AutoShape 8"/>
          <p:cNvSpPr/>
          <p:nvPr/>
        </p:nvSpPr>
        <p:spPr>
          <a:xfrm>
            <a:off x="3111500" y="2286000"/>
            <a:ext cx="279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单桥检测需3-7天，大型桥梁甚至长达30天。检测过程常需封闭交通，严重影响城市路网通行效率，给市民出行带来极大不便。</a:t>
            </a:r>
            <a:endParaRPr lang="en-US" sz="1100"/>
          </a:p>
        </p:txBody>
      </p:sp>
      <p:sp>
        <p:nvSpPr>
          <p:cNvPr id="9" name="AutoShape 9"/>
          <p:cNvSpPr/>
          <p:nvPr/>
        </p:nvSpPr>
        <p:spPr>
          <a:xfrm>
            <a:off x="6159500" y="1651000"/>
            <a:ext cx="5270500" cy="2222500"/>
          </a:xfrm>
          <a:prstGeom prst="roundRect">
            <a:avLst>
              <a:gd name="adj" fmla="val 0"/>
            </a:avLst>
          </a:prstGeom>
          <a:solidFill>
            <a:srgbClr val="FFFFFF">
              <a:alpha val="7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l="16650" r="16650"/>
          <a:stretch>
            <a:fillRect/>
          </a:stretch>
        </p:blipFill>
        <p:spPr>
          <a:xfrm>
            <a:off x="6350000" y="1841500"/>
            <a:ext cx="1778000" cy="1778000"/>
          </a:xfrm>
          <a:prstGeom prst="rect">
            <a:avLst/>
          </a:prstGeom>
          <a:noFill/>
          <a:ln w="25400" cap="flat" cmpd="sng">
            <a:noFill/>
            <a:prstDash val="solid"/>
            <a:round/>
          </a:ln>
        </p:spPr>
      </p:pic>
      <p:cxnSp>
        <p:nvCxnSpPr>
          <p:cNvPr id="11" name="Connector 11"/>
          <p:cNvCxnSpPr/>
          <p:nvPr/>
        </p:nvCxnSpPr>
        <p:spPr>
          <a:xfrm rot="5375445">
            <a:off x="7493000" y="2724173"/>
            <a:ext cx="1778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12" name="AutoShape 12"/>
          <p:cNvSpPr/>
          <p:nvPr/>
        </p:nvSpPr>
        <p:spPr>
          <a:xfrm>
            <a:off x="8509000" y="17780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02. 成本瓶颈：投入巨大</a:t>
            </a:r>
            <a:endParaRPr lang="en-US" sz="1100"/>
          </a:p>
        </p:txBody>
      </p:sp>
      <p:sp>
        <p:nvSpPr>
          <p:cNvPr id="13" name="AutoShape 13"/>
          <p:cNvSpPr/>
          <p:nvPr/>
        </p:nvSpPr>
        <p:spPr>
          <a:xfrm>
            <a:off x="8509000" y="2286000"/>
            <a:ext cx="279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单次检测成本动辄超10万元，大型特大桥可达数百万。高度依赖桥检车、脚手架等重型设备租赁与人工投入，经济负担沉重。</a:t>
            </a:r>
            <a:endParaRPr lang="en-US" sz="1100"/>
          </a:p>
        </p:txBody>
      </p:sp>
      <p:sp>
        <p:nvSpPr>
          <p:cNvPr id="14" name="AutoShape 14"/>
          <p:cNvSpPr/>
          <p:nvPr/>
        </p:nvSpPr>
        <p:spPr>
          <a:xfrm>
            <a:off x="762000" y="4191000"/>
            <a:ext cx="5270500" cy="2222500"/>
          </a:xfrm>
          <a:prstGeom prst="roundRect">
            <a:avLst>
              <a:gd name="adj" fmla="val 0"/>
            </a:avLst>
          </a:prstGeom>
          <a:solidFill>
            <a:srgbClr val="FFFFFF">
              <a:alpha val="7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4700" b="14699"/>
          <a:stretch>
            <a:fillRect/>
          </a:stretch>
        </p:blipFill>
        <p:spPr>
          <a:xfrm>
            <a:off x="952500" y="4381500"/>
            <a:ext cx="1778000" cy="1778000"/>
          </a:xfrm>
          <a:prstGeom prst="rect">
            <a:avLst/>
          </a:prstGeom>
          <a:noFill/>
          <a:ln w="25400" cap="flat" cmpd="sng">
            <a:noFill/>
            <a:prstDash val="solid"/>
            <a:round/>
          </a:ln>
        </p:spPr>
      </p:pic>
      <p:cxnSp>
        <p:nvCxnSpPr>
          <p:cNvPr id="16" name="Connector 16"/>
          <p:cNvCxnSpPr/>
          <p:nvPr/>
        </p:nvCxnSpPr>
        <p:spPr>
          <a:xfrm rot="5375445">
            <a:off x="2095500" y="5264173"/>
            <a:ext cx="1778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17" name="AutoShape 17"/>
          <p:cNvSpPr/>
          <p:nvPr/>
        </p:nvSpPr>
        <p:spPr>
          <a:xfrm>
            <a:off x="3111500" y="43180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03. 质量瓶颈：主观性强</a:t>
            </a:r>
            <a:endParaRPr lang="en-US" sz="1100"/>
          </a:p>
        </p:txBody>
      </p:sp>
      <p:sp>
        <p:nvSpPr>
          <p:cNvPr id="18" name="AutoShape 18"/>
          <p:cNvSpPr/>
          <p:nvPr/>
        </p:nvSpPr>
        <p:spPr>
          <a:xfrm>
            <a:off x="3111500" y="4826000"/>
            <a:ext cx="279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过度依赖人工目视检测，易受环境光线和人员状态影响。对于小于1mm的微裂纹，人工检出率不足40%，难以发现早期隐患。</a:t>
            </a:r>
            <a:endParaRPr lang="en-US" sz="1100"/>
          </a:p>
        </p:txBody>
      </p:sp>
      <p:sp>
        <p:nvSpPr>
          <p:cNvPr id="19" name="AutoShape 19"/>
          <p:cNvSpPr/>
          <p:nvPr/>
        </p:nvSpPr>
        <p:spPr>
          <a:xfrm>
            <a:off x="6159500" y="4191000"/>
            <a:ext cx="5270500" cy="2222500"/>
          </a:xfrm>
          <a:prstGeom prst="roundRect">
            <a:avLst>
              <a:gd name="adj" fmla="val 0"/>
            </a:avLst>
          </a:prstGeom>
          <a:solidFill>
            <a:srgbClr val="FFFFFF">
              <a:alpha val="7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7"/>
          <a:srcRect l="15239" r="15239"/>
          <a:stretch>
            <a:fillRect/>
          </a:stretch>
        </p:blipFill>
        <p:spPr>
          <a:xfrm>
            <a:off x="6350000" y="4381500"/>
            <a:ext cx="1778000" cy="1778000"/>
          </a:xfrm>
          <a:prstGeom prst="rect">
            <a:avLst/>
          </a:prstGeom>
          <a:noFill/>
          <a:ln w="25400" cap="flat" cmpd="sng">
            <a:noFill/>
            <a:prstDash val="solid"/>
            <a:round/>
          </a:ln>
        </p:spPr>
      </p:pic>
      <p:cxnSp>
        <p:nvCxnSpPr>
          <p:cNvPr id="21" name="Connector 21"/>
          <p:cNvCxnSpPr/>
          <p:nvPr/>
        </p:nvCxnSpPr>
        <p:spPr>
          <a:xfrm rot="5375445">
            <a:off x="7493000" y="5264173"/>
            <a:ext cx="1778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22" name="AutoShape 22"/>
          <p:cNvSpPr/>
          <p:nvPr/>
        </p:nvSpPr>
        <p:spPr>
          <a:xfrm>
            <a:off x="8509000" y="43180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安全瓶颈：高危作业</a:t>
            </a:r>
            <a:endParaRPr lang="en-US" sz="1100"/>
          </a:p>
        </p:txBody>
      </p:sp>
      <p:sp>
        <p:nvSpPr>
          <p:cNvPr id="23" name="AutoShape 23"/>
          <p:cNvSpPr/>
          <p:nvPr/>
        </p:nvSpPr>
        <p:spPr>
          <a:xfrm>
            <a:off x="8509000" y="4826000"/>
            <a:ext cx="279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检测人员长期面临高处坠落、物体打击等风险。在桥墩内部等封闭空间作业时，还存在有害气体、缺氧等职业健康安全威胁。</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项目风险分析：执行摘要</a:t>
            </a:r>
            <a:endParaRPr lang="en-US" sz="1100"/>
          </a:p>
        </p:txBody>
      </p:sp>
      <p:sp>
        <p:nvSpPr>
          <p:cNvPr id="4" name="AutoShape 4"/>
          <p:cNvSpPr/>
          <p:nvPr/>
        </p:nvSpPr>
        <p:spPr>
          <a:xfrm>
            <a:off x="762000" y="1778000"/>
            <a:ext cx="5270500" cy="2032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68500"/>
            <a:ext cx="355600" cy="355600"/>
          </a:xfrm>
          <a:prstGeom prst="rect">
            <a:avLst/>
          </a:prstGeom>
        </p:spPr>
      </p:pic>
      <p:sp>
        <p:nvSpPr>
          <p:cNvPr id="7" name="AutoShape 7"/>
          <p:cNvSpPr/>
          <p:nvPr/>
        </p:nvSpPr>
        <p:spPr>
          <a:xfrm>
            <a:off x="1524000" y="1930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技术风险：核心瓶颈与能力边界</a:t>
            </a:r>
            <a:endParaRPr lang="en-US" sz="1100"/>
          </a:p>
        </p:txBody>
      </p:sp>
      <p:cxnSp>
        <p:nvCxnSpPr>
          <p:cNvPr id="8" name="Connector 8"/>
          <p:cNvCxnSpPr/>
          <p:nvPr/>
        </p:nvCxnSpPr>
        <p:spPr>
          <a:xfrm rot="-9167">
            <a:off x="1016008" y="2533650"/>
            <a:ext cx="4762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9" name="AutoShape 9"/>
          <p:cNvSpPr/>
          <p:nvPr/>
        </p:nvSpPr>
        <p:spPr>
          <a:xfrm>
            <a:off x="1016000" y="2667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高质量标注数据获取成本高、周期长；微小裂缝检测和恶劣天气适应性是算法难点；且AI视觉目前无法穿透检测内部缺陷，存在能力边界限制。</a:t>
            </a:r>
            <a:endParaRPr lang="en-US" sz="1100"/>
          </a:p>
        </p:txBody>
      </p:sp>
      <p:sp>
        <p:nvSpPr>
          <p:cNvPr id="10" name="AutoShape 10"/>
          <p:cNvSpPr/>
          <p:nvPr/>
        </p:nvSpPr>
        <p:spPr>
          <a:xfrm>
            <a:off x="6286500" y="1778000"/>
            <a:ext cx="5270500" cy="2032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86500" y="1778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968500"/>
            <a:ext cx="355600" cy="355600"/>
          </a:xfrm>
          <a:prstGeom prst="rect">
            <a:avLst/>
          </a:prstGeom>
        </p:spPr>
      </p:pic>
      <p:sp>
        <p:nvSpPr>
          <p:cNvPr id="13" name="AutoShape 13"/>
          <p:cNvSpPr/>
          <p:nvPr/>
        </p:nvSpPr>
        <p:spPr>
          <a:xfrm>
            <a:off x="7048500" y="1930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市场风险：竞争格局与标准缺位</a:t>
            </a:r>
            <a:endParaRPr lang="en-US" sz="1100"/>
          </a:p>
        </p:txBody>
      </p:sp>
      <p:cxnSp>
        <p:nvCxnSpPr>
          <p:cNvPr id="14" name="Connector 14"/>
          <p:cNvCxnSpPr/>
          <p:nvPr/>
        </p:nvCxnSpPr>
        <p:spPr>
          <a:xfrm rot="-9167">
            <a:off x="6540508" y="2533650"/>
            <a:ext cx="4762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15" name="AutoShape 15"/>
          <p:cNvSpPr/>
          <p:nvPr/>
        </p:nvSpPr>
        <p:spPr>
          <a:xfrm>
            <a:off x="6540500" y="2667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面临“国家队”、科技巨头及中小企业的多方竞争；行业标准尚在建立阶段，缺乏统一规范，可能导致市场准入门槛模糊，项目验收标准难以界定。</a:t>
            </a:r>
            <a:endParaRPr lang="en-US" sz="1100"/>
          </a:p>
        </p:txBody>
      </p:sp>
      <p:sp>
        <p:nvSpPr>
          <p:cNvPr id="16" name="AutoShape 16"/>
          <p:cNvSpPr/>
          <p:nvPr/>
        </p:nvSpPr>
        <p:spPr>
          <a:xfrm>
            <a:off x="762000" y="4191000"/>
            <a:ext cx="5270500" cy="2032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355600" cy="355600"/>
          </a:xfrm>
          <a:prstGeom prst="rect">
            <a:avLst/>
          </a:prstGeom>
        </p:spPr>
      </p:pic>
      <p:sp>
        <p:nvSpPr>
          <p:cNvPr id="19" name="AutoShape 19"/>
          <p:cNvSpPr/>
          <p:nvPr/>
        </p:nvSpPr>
        <p:spPr>
          <a:xfrm>
            <a:off x="1524000" y="4343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实施风险：部署集成与成本压力</a:t>
            </a:r>
            <a:endParaRPr lang="en-US" sz="1100"/>
          </a:p>
        </p:txBody>
      </p:sp>
      <p:cxnSp>
        <p:nvCxnSpPr>
          <p:cNvPr id="20" name="Connector 20"/>
          <p:cNvCxnSpPr/>
          <p:nvPr/>
        </p:nvCxnSpPr>
        <p:spPr>
          <a:xfrm rot="-9167">
            <a:off x="1016008" y="4946650"/>
            <a:ext cx="4762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21" name="AutoShape 21"/>
          <p:cNvSpPr/>
          <p:nvPr/>
        </p:nvSpPr>
        <p:spPr>
          <a:xfrm>
            <a:off x="1016000" y="5080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软硬件系统的稳定集成与多设备兼容性是部署的主要挑战；硬件采购、系统搭建及后期持续运维服务的高昂费用，对项目预算构成持续压力。</a:t>
            </a:r>
            <a:endParaRPr lang="en-US" sz="1100"/>
          </a:p>
        </p:txBody>
      </p:sp>
      <p:sp>
        <p:nvSpPr>
          <p:cNvPr id="22" name="AutoShape 22"/>
          <p:cNvSpPr/>
          <p:nvPr/>
        </p:nvSpPr>
        <p:spPr>
          <a:xfrm>
            <a:off x="6286500" y="4191000"/>
            <a:ext cx="5270500" cy="2032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86500" y="4191000"/>
            <a:ext cx="76200" cy="2032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381500"/>
            <a:ext cx="355600" cy="355600"/>
          </a:xfrm>
          <a:prstGeom prst="rect">
            <a:avLst/>
          </a:prstGeom>
        </p:spPr>
      </p:pic>
      <p:sp>
        <p:nvSpPr>
          <p:cNvPr id="25" name="AutoShape 25"/>
          <p:cNvSpPr/>
          <p:nvPr/>
        </p:nvSpPr>
        <p:spPr>
          <a:xfrm>
            <a:off x="7048500" y="4343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综合应对：多维策略化解风险</a:t>
            </a:r>
            <a:endParaRPr lang="en-US" sz="1100"/>
          </a:p>
        </p:txBody>
      </p:sp>
      <p:cxnSp>
        <p:nvCxnSpPr>
          <p:cNvPr id="26" name="Connector 26"/>
          <p:cNvCxnSpPr/>
          <p:nvPr/>
        </p:nvCxnSpPr>
        <p:spPr>
          <a:xfrm rot="-9167">
            <a:off x="6540508" y="4946650"/>
            <a:ext cx="4762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27" name="AutoShape 27"/>
          <p:cNvSpPr/>
          <p:nvPr/>
        </p:nvSpPr>
        <p:spPr>
          <a:xfrm>
            <a:off x="6540500" y="5080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技术上采用数据增强与多传感器融合弥补视觉短板；市场端坚持差异化竞争，深耕细分场景；实施层面推行模块化设计，降低集成难度与整体投入成本。</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实施与成本风险：从实验室到现场的落地挑战</a:t>
            </a:r>
            <a:endParaRPr lang="en-US" sz="1100"/>
          </a:p>
        </p:txBody>
      </p:sp>
      <p:cxnSp>
        <p:nvCxnSpPr>
          <p:cNvPr id="4" name="Connector 4"/>
          <p:cNvCxnSpPr/>
          <p:nvPr/>
        </p:nvCxnSpPr>
        <p:spPr>
          <a:xfrm rot="5390450">
            <a:off x="3810000" y="3930659"/>
            <a:ext cx="4572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5" name="AutoShape 5"/>
          <p:cNvSpPr/>
          <p:nvPr/>
        </p:nvSpPr>
        <p:spPr>
          <a:xfrm>
            <a:off x="762000" y="1651000"/>
            <a:ext cx="50800" cy="3048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14400" y="16129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01 部署与集成风险</a:t>
            </a:r>
            <a:endParaRPr lang="en-US" sz="1100"/>
          </a:p>
        </p:txBody>
      </p:sp>
      <p:pic>
        <p:nvPicPr>
          <p:cNvPr id="7" name="Picture 7"/>
          <p:cNvPicPr>
            <a:picLocks noChangeAspect="1"/>
          </p:cNvPicPr>
          <p:nvPr/>
        </p:nvPicPr>
        <p:blipFill>
          <a:blip r:embed="rId4"/>
          <a:srcRect l="10579" r="10579"/>
          <a:stretch>
            <a:fillRect/>
          </a:stretch>
        </p:blipFill>
        <p:spPr>
          <a:xfrm>
            <a:off x="762000" y="2286000"/>
            <a:ext cx="2286000" cy="1905000"/>
          </a:xfrm>
          <a:prstGeom prst="rect">
            <a:avLst/>
          </a:prstGeom>
          <a:noFill/>
          <a:ln w="25400" cap="flat" cmpd="sng">
            <a:noFill/>
            <a:prstDash val="solid"/>
            <a:round/>
          </a:ln>
        </p:spPr>
      </p:pic>
      <p:sp>
        <p:nvSpPr>
          <p:cNvPr id="8" name="AutoShape 8"/>
          <p:cNvSpPr/>
          <p:nvPr/>
        </p:nvSpPr>
        <p:spPr>
          <a:xfrm>
            <a:off x="3302000" y="2286000"/>
            <a:ext cx="2603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多端适配与环境挑战：</a:t>
            </a:r>
            <a:endParaRPr lang="en-US" sz="1100"/>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算法需兼容嵌入式设备、相机及传感器；需对接客户现有BMS系统；同时克服现场网络、供电与安装空间的复杂限制。</a:t>
            </a:r>
          </a:p>
        </p:txBody>
      </p:sp>
      <p:sp>
        <p:nvSpPr>
          <p:cNvPr id="9" name="AutoShape 9"/>
          <p:cNvSpPr/>
          <p:nvPr/>
        </p:nvSpPr>
        <p:spPr>
          <a:xfrm>
            <a:off x="762000" y="4572000"/>
            <a:ext cx="5270500" cy="15240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762500"/>
            <a:ext cx="304800" cy="304800"/>
          </a:xfrm>
          <a:prstGeom prst="rect">
            <a:avLst/>
          </a:prstGeom>
        </p:spPr>
      </p:pic>
      <p:sp>
        <p:nvSpPr>
          <p:cNvPr id="11" name="AutoShape 11"/>
          <p:cNvSpPr/>
          <p:nvPr/>
        </p:nvSpPr>
        <p:spPr>
          <a:xfrm>
            <a:off x="1397000" y="4724400"/>
            <a:ext cx="444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应对策略：一体化与标准化</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采用模块化设计，提供“硬件+软件”一体化解决方案，降低适配难度；建立专业现场服务团队，针对复杂环境提供定制化部署与调试支持，保障系统稳定运行。</a:t>
            </a:r>
          </a:p>
        </p:txBody>
      </p:sp>
      <p:sp>
        <p:nvSpPr>
          <p:cNvPr id="12" name="AutoShape 12"/>
          <p:cNvSpPr/>
          <p:nvPr/>
        </p:nvSpPr>
        <p:spPr>
          <a:xfrm>
            <a:off x="6413500" y="1651000"/>
            <a:ext cx="50800" cy="3048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65900" y="16129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02 成本控制风险</a:t>
            </a:r>
            <a:endParaRPr lang="en-US" sz="1100"/>
          </a:p>
        </p:txBody>
      </p:sp>
      <p:sp>
        <p:nvSpPr>
          <p:cNvPr id="14" name="AutoShape 14"/>
          <p:cNvSpPr/>
          <p:nvPr/>
        </p:nvSpPr>
        <p:spPr>
          <a:xfrm>
            <a:off x="6413500" y="2413000"/>
            <a:ext cx="52705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603500"/>
            <a:ext cx="355600" cy="355600"/>
          </a:xfrm>
          <a:prstGeom prst="rect">
            <a:avLst/>
          </a:prstGeom>
        </p:spPr>
      </p:pic>
      <p:sp>
        <p:nvSpPr>
          <p:cNvPr id="16" name="AutoShape 16"/>
          <p:cNvSpPr/>
          <p:nvPr/>
        </p:nvSpPr>
        <p:spPr>
          <a:xfrm>
            <a:off x="7112000" y="25400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高昂的硬件投入</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高性能GPU服务器、边缘计算设备及专业传感器价格昂贵，直接拉高项目启动成本。</a:t>
            </a:r>
          </a:p>
        </p:txBody>
      </p:sp>
      <p:sp>
        <p:nvSpPr>
          <p:cNvPr id="17" name="AutoShape 17"/>
          <p:cNvSpPr/>
          <p:nvPr/>
        </p:nvSpPr>
        <p:spPr>
          <a:xfrm>
            <a:off x="6413500" y="3683000"/>
            <a:ext cx="52705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873500"/>
            <a:ext cx="355600" cy="355600"/>
          </a:xfrm>
          <a:prstGeom prst="rect">
            <a:avLst/>
          </a:prstGeom>
        </p:spPr>
      </p:pic>
      <p:sp>
        <p:nvSpPr>
          <p:cNvPr id="19" name="AutoShape 19"/>
          <p:cNvSpPr/>
          <p:nvPr/>
        </p:nvSpPr>
        <p:spPr>
          <a:xfrm>
            <a:off x="7112000" y="38100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持续的研发与服务投入</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数据标注、算法迭代是长期过程；私有化部署前期基建成本高，SaaS模式则存在持续的服务费用支出。</a:t>
            </a:r>
          </a:p>
        </p:txBody>
      </p:sp>
      <p:sp>
        <p:nvSpPr>
          <p:cNvPr id="20" name="AutoShape 20"/>
          <p:cNvSpPr/>
          <p:nvPr/>
        </p:nvSpPr>
        <p:spPr>
          <a:xfrm>
            <a:off x="6413500" y="5080000"/>
            <a:ext cx="5270500" cy="11430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5232400"/>
            <a:ext cx="304800" cy="304800"/>
          </a:xfrm>
          <a:prstGeom prst="rect">
            <a:avLst/>
          </a:prstGeom>
        </p:spPr>
      </p:pic>
      <p:sp>
        <p:nvSpPr>
          <p:cNvPr id="22" name="AutoShape 22"/>
          <p:cNvSpPr/>
          <p:nvPr/>
        </p:nvSpPr>
        <p:spPr>
          <a:xfrm>
            <a:off x="7048500" y="52070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破局之道：轻量化与灵活选择</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利用模型轻量化与量化技术降低硬件门槛；提供私有化部署与SaaS服务并行的灵活方案；优化研发流程，控制长期迭代成本。</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软件需求分析</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2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详细定义系统功能、性能与接口需求，明确“智能桥梁缺陷检测与评估系统”的核心边界与技术指标，为后续的项目开发、测试验证与最终验收提供科学、统一且可量化的基准依据。</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74"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5"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产品功能概述与运行环境</a:t>
            </a:r>
            <a:endParaRPr lang="en-US" sz="1100"/>
          </a:p>
        </p:txBody>
      </p:sp>
      <p:cxnSp>
        <p:nvCxnSpPr>
          <p:cNvPr id="76"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4F46E5">
                <a:alpha val="30000"/>
              </a:srgbClr>
            </a:solidFill>
            <a:prstDash val="solid"/>
            <a:round/>
            <a:headEnd type="none" w="med" len="med"/>
            <a:tailEnd type="none" w="med" len="med"/>
          </a:ln>
        </p:spPr>
      </p:cxnSp>
      <p:sp>
        <p:nvSpPr>
          <p:cNvPr id="77" name="AutoShape 5"/>
          <p:cNvSpPr/>
          <p:nvPr/>
        </p:nvSpPr>
        <p:spPr>
          <a:xfrm>
            <a:off x="762000" y="1778000"/>
            <a:ext cx="33655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78"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968500"/>
            <a:ext cx="355600" cy="355600"/>
          </a:xfrm>
          <a:prstGeom prst="rect">
            <a:avLst/>
          </a:prstGeom>
        </p:spPr>
      </p:pic>
      <p:sp>
        <p:nvSpPr>
          <p:cNvPr id="79" name="AutoShape 7"/>
          <p:cNvSpPr/>
          <p:nvPr/>
        </p:nvSpPr>
        <p:spPr>
          <a:xfrm>
            <a:off x="1460500" y="193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多源数据输入</a:t>
            </a:r>
            <a:endParaRPr lang="en-US" sz="1100"/>
          </a:p>
        </p:txBody>
      </p:sp>
      <p:cxnSp>
        <p:nvCxnSpPr>
          <p:cNvPr id="80" name="Connector 8"/>
          <p:cNvCxnSpPr/>
          <p:nvPr/>
        </p:nvCxnSpPr>
        <p:spPr>
          <a:xfrm rot="-14628">
            <a:off x="952514" y="2470150"/>
            <a:ext cx="2984500" cy="12700"/>
          </a:xfrm>
          <a:prstGeom prst="straightConnector1">
            <a:avLst/>
          </a:prstGeom>
          <a:solidFill>
            <a:srgbClr val="DEE0E3">
              <a:alpha val="100000"/>
            </a:srgbClr>
          </a:solidFill>
          <a:ln w="12700" cap="flat" cmpd="sng">
            <a:solidFill>
              <a:srgbClr val="4F46E5">
                <a:alpha val="15000"/>
              </a:srgbClr>
            </a:solidFill>
            <a:prstDash val="dash"/>
            <a:round/>
            <a:headEnd type="none" w="med" len="med"/>
            <a:tailEnd type="none" w="med" len="med"/>
          </a:ln>
        </p:spPr>
      </p:cxnSp>
      <p:sp>
        <p:nvSpPr>
          <p:cNvPr id="81" name="AutoShape 9"/>
          <p:cNvSpPr/>
          <p:nvPr/>
        </p:nvSpPr>
        <p:spPr>
          <a:xfrm>
            <a:off x="952500" y="2603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支持本地图片文件、实时工业摄像头流及无人机航拍视频流等多种异构数据源接入。</a:t>
            </a:r>
            <a:endParaRPr lang="en-US" sz="1100"/>
          </a:p>
        </p:txBody>
      </p:sp>
      <p:sp>
        <p:nvSpPr>
          <p:cNvPr id="82" name="AutoShape 10"/>
          <p:cNvSpPr/>
          <p:nvPr/>
        </p:nvSpPr>
        <p:spPr>
          <a:xfrm>
            <a:off x="4381500" y="1778000"/>
            <a:ext cx="33655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83"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1968500"/>
            <a:ext cx="355600" cy="355600"/>
          </a:xfrm>
          <a:prstGeom prst="rect">
            <a:avLst/>
          </a:prstGeom>
        </p:spPr>
      </p:pic>
      <p:sp>
        <p:nvSpPr>
          <p:cNvPr id="84" name="AutoShape 12"/>
          <p:cNvSpPr/>
          <p:nvPr/>
        </p:nvSpPr>
        <p:spPr>
          <a:xfrm>
            <a:off x="5080000" y="193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智能缺陷检测</a:t>
            </a:r>
            <a:endParaRPr lang="en-US" sz="1100"/>
          </a:p>
        </p:txBody>
      </p:sp>
      <p:cxnSp>
        <p:nvCxnSpPr>
          <p:cNvPr id="85" name="Connector 13"/>
          <p:cNvCxnSpPr/>
          <p:nvPr/>
        </p:nvCxnSpPr>
        <p:spPr>
          <a:xfrm rot="-14628">
            <a:off x="4572014" y="2470150"/>
            <a:ext cx="2984500" cy="12700"/>
          </a:xfrm>
          <a:prstGeom prst="straightConnector1">
            <a:avLst/>
          </a:prstGeom>
          <a:solidFill>
            <a:srgbClr val="DEE0E3">
              <a:alpha val="100000"/>
            </a:srgbClr>
          </a:solidFill>
          <a:ln w="12700" cap="flat" cmpd="sng">
            <a:solidFill>
              <a:srgbClr val="4F46E5">
                <a:alpha val="15000"/>
              </a:srgbClr>
            </a:solidFill>
            <a:prstDash val="dash"/>
            <a:round/>
            <a:headEnd type="none" w="med" len="med"/>
            <a:tailEnd type="none" w="med" len="med"/>
          </a:ln>
        </p:spPr>
      </p:cxnSp>
      <p:sp>
        <p:nvSpPr>
          <p:cNvPr id="86" name="AutoShape 14"/>
          <p:cNvSpPr/>
          <p:nvPr/>
        </p:nvSpPr>
        <p:spPr>
          <a:xfrm>
            <a:off x="4572000" y="2603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基于YOLOv10深度模型，自动识别并定位裂缝、混凝土剥落、金属锈蚀等7类核心结构缺陷。</a:t>
            </a:r>
            <a:endParaRPr lang="en-US" sz="1100"/>
          </a:p>
        </p:txBody>
      </p:sp>
      <p:sp>
        <p:nvSpPr>
          <p:cNvPr id="87" name="AutoShape 15"/>
          <p:cNvSpPr/>
          <p:nvPr/>
        </p:nvSpPr>
        <p:spPr>
          <a:xfrm>
            <a:off x="762000" y="3556000"/>
            <a:ext cx="33655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88"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746500"/>
            <a:ext cx="355600" cy="355600"/>
          </a:xfrm>
          <a:prstGeom prst="rect">
            <a:avLst/>
          </a:prstGeom>
        </p:spPr>
      </p:pic>
      <p:sp>
        <p:nvSpPr>
          <p:cNvPr id="89" name="AutoShape 17"/>
          <p:cNvSpPr/>
          <p:nvPr/>
        </p:nvSpPr>
        <p:spPr>
          <a:xfrm>
            <a:off x="14605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模型管理与训练</a:t>
            </a:r>
            <a:endParaRPr lang="en-US" sz="1100"/>
          </a:p>
        </p:txBody>
      </p:sp>
      <p:cxnSp>
        <p:nvCxnSpPr>
          <p:cNvPr id="90" name="Connector 18"/>
          <p:cNvCxnSpPr/>
          <p:nvPr/>
        </p:nvCxnSpPr>
        <p:spPr>
          <a:xfrm rot="-14628">
            <a:off x="952514" y="4248150"/>
            <a:ext cx="2984500" cy="12700"/>
          </a:xfrm>
          <a:prstGeom prst="straightConnector1">
            <a:avLst/>
          </a:prstGeom>
          <a:solidFill>
            <a:srgbClr val="DEE0E3">
              <a:alpha val="100000"/>
            </a:srgbClr>
          </a:solidFill>
          <a:ln w="12700" cap="flat" cmpd="sng">
            <a:solidFill>
              <a:srgbClr val="4F46E5">
                <a:alpha val="15000"/>
              </a:srgbClr>
            </a:solidFill>
            <a:prstDash val="dash"/>
            <a:round/>
            <a:headEnd type="none" w="med" len="med"/>
            <a:tailEnd type="none" w="med" len="med"/>
          </a:ln>
        </p:spPr>
      </p:cxnSp>
      <p:sp>
        <p:nvSpPr>
          <p:cNvPr id="91" name="AutoShape 19"/>
          <p:cNvSpPr/>
          <p:nvPr/>
        </p:nvSpPr>
        <p:spPr>
          <a:xfrm>
            <a:off x="952500" y="4381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提供可视化训练界面，支持自定义数据集标注、模型微调与版本迭代管理，降低算法门槛。</a:t>
            </a:r>
            <a:endParaRPr lang="en-US" sz="1100"/>
          </a:p>
        </p:txBody>
      </p:sp>
      <p:sp>
        <p:nvSpPr>
          <p:cNvPr id="92" name="AutoShape 20"/>
          <p:cNvSpPr/>
          <p:nvPr/>
        </p:nvSpPr>
        <p:spPr>
          <a:xfrm>
            <a:off x="4381500" y="3556000"/>
            <a:ext cx="33655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93"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72000" y="3746500"/>
            <a:ext cx="355600" cy="355600"/>
          </a:xfrm>
          <a:prstGeom prst="rect">
            <a:avLst/>
          </a:prstGeom>
        </p:spPr>
      </p:pic>
      <p:sp>
        <p:nvSpPr>
          <p:cNvPr id="94" name="AutoShape 22"/>
          <p:cNvSpPr/>
          <p:nvPr/>
        </p:nvSpPr>
        <p:spPr>
          <a:xfrm>
            <a:off x="50800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实时可视化呈现</a:t>
            </a:r>
            <a:endParaRPr lang="en-US" sz="1100"/>
          </a:p>
        </p:txBody>
      </p:sp>
      <p:cxnSp>
        <p:nvCxnSpPr>
          <p:cNvPr id="95" name="Connector 23"/>
          <p:cNvCxnSpPr/>
          <p:nvPr/>
        </p:nvCxnSpPr>
        <p:spPr>
          <a:xfrm rot="-14628">
            <a:off x="4572014" y="4248150"/>
            <a:ext cx="2984500" cy="12700"/>
          </a:xfrm>
          <a:prstGeom prst="straightConnector1">
            <a:avLst/>
          </a:prstGeom>
          <a:solidFill>
            <a:srgbClr val="DEE0E3">
              <a:alpha val="100000"/>
            </a:srgbClr>
          </a:solidFill>
          <a:ln w="12700" cap="flat" cmpd="sng">
            <a:solidFill>
              <a:srgbClr val="4F46E5">
                <a:alpha val="15000"/>
              </a:srgbClr>
            </a:solidFill>
            <a:prstDash val="dash"/>
            <a:round/>
            <a:headEnd type="none" w="med" len="med"/>
            <a:tailEnd type="none" w="med" len="med"/>
          </a:ln>
        </p:spPr>
      </p:cxnSp>
      <p:sp>
        <p:nvSpPr>
          <p:cNvPr id="96" name="AutoShape 24"/>
          <p:cNvSpPr/>
          <p:nvPr/>
        </p:nvSpPr>
        <p:spPr>
          <a:xfrm>
            <a:off x="4572000" y="4381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实时绘制缺陷检测框，叠加标注缺陷类别、置信度评分与物理尺寸，直观反馈检测结果。</a:t>
            </a:r>
            <a:endParaRPr lang="en-US" sz="1100"/>
          </a:p>
        </p:txBody>
      </p:sp>
      <p:sp>
        <p:nvSpPr>
          <p:cNvPr id="97" name="AutoShape 25"/>
          <p:cNvSpPr/>
          <p:nvPr/>
        </p:nvSpPr>
        <p:spPr>
          <a:xfrm>
            <a:off x="762000" y="5270500"/>
            <a:ext cx="6985000" cy="11430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98"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5461000"/>
            <a:ext cx="304800" cy="304800"/>
          </a:xfrm>
          <a:prstGeom prst="rect">
            <a:avLst/>
          </a:prstGeom>
        </p:spPr>
      </p:pic>
      <p:sp>
        <p:nvSpPr>
          <p:cNvPr id="99" name="AutoShape 27"/>
          <p:cNvSpPr/>
          <p:nvPr/>
        </p:nvSpPr>
        <p:spPr>
          <a:xfrm>
            <a:off x="1397000" y="54356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专业化报告生成</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自动汇总数据生成符合行业规范的PDF报告，包含缺陷统计、定位信息与修复建议。</a:t>
            </a:r>
          </a:p>
        </p:txBody>
      </p:sp>
      <p:cxnSp>
        <p:nvCxnSpPr>
          <p:cNvPr id="100" name="Connector 28"/>
          <p:cNvCxnSpPr/>
          <p:nvPr/>
        </p:nvCxnSpPr>
        <p:spPr>
          <a:xfrm rot="5342709">
            <a:off x="3873500" y="5835703"/>
            <a:ext cx="762000" cy="12700"/>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pic>
        <p:nvPicPr>
          <p:cNvPr id="101" name="Picture 2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45000" y="5461000"/>
            <a:ext cx="304800" cy="304800"/>
          </a:xfrm>
          <a:prstGeom prst="rect">
            <a:avLst/>
          </a:prstGeom>
        </p:spPr>
      </p:pic>
      <p:sp>
        <p:nvSpPr>
          <p:cNvPr id="102" name="AutoShape 30"/>
          <p:cNvSpPr/>
          <p:nvPr/>
        </p:nvSpPr>
        <p:spPr>
          <a:xfrm>
            <a:off x="4889500" y="54356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全维度系统管理</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完善的RBAC权限控制体系，支持多角色用户管理、任务调度与全链路操作日志查询。</a:t>
            </a:r>
          </a:p>
        </p:txBody>
      </p:sp>
      <p:cxnSp>
        <p:nvCxnSpPr>
          <p:cNvPr id="103" name="Connector 31"/>
          <p:cNvCxnSpPr/>
          <p:nvPr/>
        </p:nvCxnSpPr>
        <p:spPr>
          <a:xfrm rot="5390581">
            <a:off x="5810250" y="4089409"/>
            <a:ext cx="4635500" cy="12700"/>
          </a:xfrm>
          <a:prstGeom prst="straightConnector1">
            <a:avLst/>
          </a:prstGeom>
          <a:solidFill>
            <a:srgbClr val="DEE0E3">
              <a:alpha val="100000"/>
            </a:srgbClr>
          </a:solidFill>
          <a:ln w="12700" cap="flat" cmpd="sng">
            <a:solidFill>
              <a:srgbClr val="4F46E5">
                <a:alpha val="20000"/>
              </a:srgbClr>
            </a:solidFill>
            <a:prstDash val="dash"/>
            <a:round/>
            <a:headEnd type="none" w="med" len="med"/>
            <a:tailEnd type="none" w="med" len="med"/>
          </a:ln>
        </p:spPr>
      </p:cxnSp>
      <p:sp>
        <p:nvSpPr>
          <p:cNvPr id="104" name="AutoShape 32"/>
          <p:cNvSpPr/>
          <p:nvPr/>
        </p:nvSpPr>
        <p:spPr>
          <a:xfrm>
            <a:off x="8318500" y="1778000"/>
            <a:ext cx="3365500" cy="14605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05" name="AutoShape 33"/>
          <p:cNvSpPr/>
          <p:nvPr/>
        </p:nvSpPr>
        <p:spPr>
          <a:xfrm>
            <a:off x="8318500" y="1778000"/>
            <a:ext cx="50800" cy="1460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6" name="Picture 3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09000" y="1968500"/>
            <a:ext cx="330200" cy="330200"/>
          </a:xfrm>
          <a:prstGeom prst="rect">
            <a:avLst/>
          </a:prstGeom>
        </p:spPr>
      </p:pic>
      <p:sp>
        <p:nvSpPr>
          <p:cNvPr id="107" name="AutoShape 35"/>
          <p:cNvSpPr/>
          <p:nvPr/>
        </p:nvSpPr>
        <p:spPr>
          <a:xfrm>
            <a:off x="8953500" y="1930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高性能异构硬件</a:t>
            </a:r>
            <a:endParaRPr lang="en-US" sz="1100"/>
          </a:p>
        </p:txBody>
      </p:sp>
      <p:cxnSp>
        <p:nvCxnSpPr>
          <p:cNvPr id="108" name="Connector 36"/>
          <p:cNvCxnSpPr/>
          <p:nvPr/>
        </p:nvCxnSpPr>
        <p:spPr>
          <a:xfrm rot="-14628">
            <a:off x="8509014" y="2406650"/>
            <a:ext cx="2984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109" name="AutoShape 37"/>
          <p:cNvSpPr/>
          <p:nvPr/>
        </p:nvSpPr>
        <p:spPr>
          <a:xfrm>
            <a:off x="8509000" y="2540000"/>
            <a:ext cx="298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服务端搭载NVIDIA RTX 4090算力平台，边缘端适配Jetson Orin/Nano系列，兼顾训练与实时推理。</a:t>
            </a:r>
            <a:endParaRPr lang="en-US" sz="1100"/>
          </a:p>
        </p:txBody>
      </p:sp>
      <p:sp>
        <p:nvSpPr>
          <p:cNvPr id="110" name="AutoShape 38"/>
          <p:cNvSpPr/>
          <p:nvPr/>
        </p:nvSpPr>
        <p:spPr>
          <a:xfrm>
            <a:off x="8318500" y="3556000"/>
            <a:ext cx="3365500" cy="14605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1" name="AutoShape 39"/>
          <p:cNvSpPr/>
          <p:nvPr/>
        </p:nvSpPr>
        <p:spPr>
          <a:xfrm>
            <a:off x="8318500" y="3556000"/>
            <a:ext cx="50800" cy="1460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2" name="Picture 40"/>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09000" y="3746500"/>
            <a:ext cx="330200" cy="330200"/>
          </a:xfrm>
          <a:prstGeom prst="rect">
            <a:avLst/>
          </a:prstGeom>
        </p:spPr>
      </p:pic>
      <p:sp>
        <p:nvSpPr>
          <p:cNvPr id="113" name="AutoShape 41"/>
          <p:cNvSpPr/>
          <p:nvPr/>
        </p:nvSpPr>
        <p:spPr>
          <a:xfrm>
            <a:off x="8953500" y="3708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前沿软件技术栈</a:t>
            </a:r>
            <a:endParaRPr lang="en-US" sz="1100"/>
          </a:p>
        </p:txBody>
      </p:sp>
      <p:cxnSp>
        <p:nvCxnSpPr>
          <p:cNvPr id="114" name="Connector 42"/>
          <p:cNvCxnSpPr/>
          <p:nvPr/>
        </p:nvCxnSpPr>
        <p:spPr>
          <a:xfrm rot="-14628">
            <a:off x="8509014" y="4184650"/>
            <a:ext cx="2984500" cy="12700"/>
          </a:xfrm>
          <a:prstGeom prst="straightConnector1">
            <a:avLst/>
          </a:prstGeom>
          <a:solidFill>
            <a:srgbClr val="DEE0E3">
              <a:alpha val="100000"/>
            </a:srgbClr>
          </a:solidFill>
          <a:ln w="12700" cap="flat" cmpd="sng">
            <a:solidFill>
              <a:srgbClr val="4F46E5">
                <a:alpha val="20000"/>
              </a:srgbClr>
            </a:solidFill>
            <a:prstDash val="solid"/>
            <a:round/>
            <a:headEnd type="none" w="med" len="med"/>
            <a:tailEnd type="none" w="med" len="med"/>
          </a:ln>
        </p:spPr>
      </p:cxnSp>
      <p:sp>
        <p:nvSpPr>
          <p:cNvPr id="115" name="AutoShape 43"/>
          <p:cNvSpPr/>
          <p:nvPr/>
        </p:nvSpPr>
        <p:spPr>
          <a:xfrm>
            <a:off x="8509000" y="4318000"/>
            <a:ext cx="298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基于Ubuntu 20.04/22.04系统，采用Python 3.8+生态，集成PyTorch框架与Ultralytics YOLOv10算法库。</a:t>
            </a:r>
            <a:endParaRPr lang="en-US" sz="1100"/>
          </a:p>
        </p:txBody>
      </p:sp>
      <p:sp>
        <p:nvSpPr>
          <p:cNvPr id="116" name="AutoShape 44"/>
          <p:cNvSpPr/>
          <p:nvPr/>
        </p:nvSpPr>
        <p:spPr>
          <a:xfrm>
            <a:off x="8318500" y="5270500"/>
            <a:ext cx="3365500" cy="11430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7" name="AutoShape 45"/>
          <p:cNvSpPr/>
          <p:nvPr/>
        </p:nvSpPr>
        <p:spPr>
          <a:xfrm>
            <a:off x="8318500" y="5270500"/>
            <a:ext cx="50800" cy="11430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8" name="Picture 46"/>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509000" y="5461000"/>
            <a:ext cx="304800" cy="304800"/>
          </a:xfrm>
          <a:prstGeom prst="rect">
            <a:avLst/>
          </a:prstGeom>
        </p:spPr>
      </p:pic>
      <p:sp>
        <p:nvSpPr>
          <p:cNvPr id="119" name="AutoShape 47"/>
          <p:cNvSpPr/>
          <p:nvPr/>
        </p:nvSpPr>
        <p:spPr>
          <a:xfrm>
            <a:off x="8953500" y="5435600"/>
            <a:ext cx="260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容器化与推理加速</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Docker实现环境隔离与快速交付，结合TensorRT进行模型量化与推理加速，提升系统响应效率。</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8"/>
          <a:srcRect/>
          <a:stretch>
            <a:fillRect/>
          </a:stretch>
        </a:blipFill>
        <a:effectLst/>
      </p:bgPr>
    </p:bg>
    <p:spTree>
      <p:nvGrpSpPr>
        <p:cNvPr id="1" name=""/>
        <p:cNvGrpSpPr/>
        <p:nvPr/>
      </p:nvGrpSpPr>
      <p:grpSpPr>
        <a:xfrm>
          <a:off x="0" y="0"/>
          <a:ext cx="0" cy="0"/>
          <a:chOff x="0" y="0"/>
          <a:chExt cx="0" cy="0"/>
        </a:xfrm>
      </p:grpSpPr>
      <p:sp>
        <p:nvSpPr>
          <p:cNvPr id="7"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核心功能需求</a:t>
            </a:r>
            <a:endParaRPr lang="en-US" sz="1100"/>
          </a:p>
        </p:txBody>
      </p:sp>
      <p:sp>
        <p:nvSpPr>
          <p:cNvPr id="10" name="AutoShape 5"/>
          <p:cNvSpPr/>
          <p:nvPr/>
        </p:nvSpPr>
        <p:spPr>
          <a:xfrm>
            <a:off x="762000" y="4826000"/>
            <a:ext cx="4826000" cy="158750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6"/>
          <p:cNvSpPr/>
          <p:nvPr/>
        </p:nvSpPr>
        <p:spPr>
          <a:xfrm>
            <a:off x="762000" y="4826000"/>
            <a:ext cx="76200" cy="15875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7"/>
          <p:cNvSpPr/>
          <p:nvPr/>
        </p:nvSpPr>
        <p:spPr>
          <a:xfrm>
            <a:off x="1016000" y="4953000"/>
            <a:ext cx="4318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基于真实桥梁病害数据构建的标准化数据集，通过精准的像素级标注，确保模型能够学习到裂缝、锈蚀、剥落等缺陷的关键特征，为AI检测的高准确性奠定坚实基础。</a:t>
            </a:r>
            <a:endParaRPr lang="en-US" sz="1100"/>
          </a:p>
        </p:txBody>
      </p:sp>
      <p:cxnSp>
        <p:nvCxnSpPr>
          <p:cNvPr id="13" name="Connector 8"/>
          <p:cNvCxnSpPr/>
          <p:nvPr/>
        </p:nvCxnSpPr>
        <p:spPr>
          <a:xfrm rot="5390832">
            <a:off x="3524250" y="4025908"/>
            <a:ext cx="4762500" cy="12700"/>
          </a:xfrm>
          <a:prstGeom prst="straightConnector1">
            <a:avLst/>
          </a:prstGeom>
          <a:solidFill>
            <a:srgbClr val="DEE0E3">
              <a:alpha val="100000"/>
            </a:srgbClr>
          </a:solidFill>
          <a:ln w="12700" cap="flat" cmpd="sng">
            <a:solidFill>
              <a:srgbClr val="4F46E5">
                <a:alpha val="20000"/>
              </a:srgbClr>
            </a:solidFill>
            <a:prstDash val="dash"/>
            <a:round/>
            <a:headEnd type="none" w="med" len="med"/>
            <a:tailEnd type="none" w="med" len="med"/>
          </a:ln>
        </p:spPr>
      </p:cxnSp>
      <p:sp>
        <p:nvSpPr>
          <p:cNvPr id="14" name="AutoShape 9"/>
          <p:cNvSpPr/>
          <p:nvPr>
            <p:custDataLst>
              <p:tags r:id="rId1"/>
            </p:custDataLst>
          </p:nvPr>
        </p:nvSpPr>
        <p:spPr>
          <a:xfrm>
            <a:off x="6096000" y="1651000"/>
            <a:ext cx="53340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15" name="Picture 10"/>
          <p:cNvPicPr>
            <a:picLocks noChangeAspect="1"/>
          </p:cNvPicPr>
          <p:nvPr>
            <p:custDataLst>
              <p:tags r:id="rId2"/>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86500" y="1841500"/>
            <a:ext cx="304800" cy="304800"/>
          </a:xfrm>
          <a:prstGeom prst="rect">
            <a:avLst/>
          </a:prstGeom>
        </p:spPr>
      </p:pic>
      <p:sp>
        <p:nvSpPr>
          <p:cNvPr id="16" name="AutoShape 11"/>
          <p:cNvSpPr/>
          <p:nvPr>
            <p:custDataLst>
              <p:tags r:id="rId3"/>
            </p:custDataLst>
          </p:nvPr>
        </p:nvSpPr>
        <p:spPr>
          <a:xfrm>
            <a:off x="6731000" y="1803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缺陷检测模块 </a:t>
            </a:r>
            <a:endParaRPr lang="en-US" sz="1100"/>
          </a:p>
        </p:txBody>
      </p:sp>
      <p:cxnSp>
        <p:nvCxnSpPr>
          <p:cNvPr id="17" name="Connector 12"/>
          <p:cNvCxnSpPr/>
          <p:nvPr>
            <p:custDataLst>
              <p:tags r:id="rId4"/>
            </p:custDataLst>
          </p:nvPr>
        </p:nvCxnSpPr>
        <p:spPr>
          <a:xfrm rot="-8814">
            <a:off x="6286508" y="2279650"/>
            <a:ext cx="4953000" cy="12700"/>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18" name="AutoShape 13"/>
          <p:cNvSpPr/>
          <p:nvPr>
            <p:custDataLst>
              <p:tags r:id="rId5"/>
            </p:custDataLst>
          </p:nvPr>
        </p:nvSpPr>
        <p:spPr>
          <a:xfrm>
            <a:off x="6286500" y="2413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系统精准识别并分类裂缝、混凝土剥落、钢筋锈蚀、外露、风化、水渍渗漏及修补区域等7类核心缺陷，覆盖桥梁结构常见病害类型。</a:t>
            </a:r>
            <a:endParaRPr lang="en-US" sz="1100"/>
          </a:p>
        </p:txBody>
      </p:sp>
      <p:sp>
        <p:nvSpPr>
          <p:cNvPr id="19" name="AutoShape 14"/>
          <p:cNvSpPr/>
          <p:nvPr>
            <p:custDataLst>
              <p:tags r:id="rId6"/>
            </p:custDataLst>
          </p:nvPr>
        </p:nvSpPr>
        <p:spPr>
          <a:xfrm>
            <a:off x="6096000" y="3365500"/>
            <a:ext cx="533400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20" name="Picture 15"/>
          <p:cNvPicPr>
            <a:picLocks noChangeAspect="1"/>
          </p:cNvPicPr>
          <p:nvPr>
            <p:custDataLst>
              <p:tags r:id="rId7"/>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286500" y="3556000"/>
            <a:ext cx="304800" cy="304800"/>
          </a:xfrm>
          <a:prstGeom prst="rect">
            <a:avLst/>
          </a:prstGeom>
        </p:spPr>
      </p:pic>
      <p:sp>
        <p:nvSpPr>
          <p:cNvPr id="21" name="AutoShape 16"/>
          <p:cNvSpPr/>
          <p:nvPr>
            <p:custDataLst>
              <p:tags r:id="rId8"/>
            </p:custDataLst>
          </p:nvPr>
        </p:nvSpPr>
        <p:spPr>
          <a:xfrm>
            <a:off x="6731000" y="35179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模型训练模块 </a:t>
            </a:r>
            <a:endParaRPr lang="en-US" sz="1100"/>
          </a:p>
        </p:txBody>
      </p:sp>
      <p:cxnSp>
        <p:nvCxnSpPr>
          <p:cNvPr id="22" name="Connector 17"/>
          <p:cNvCxnSpPr/>
          <p:nvPr>
            <p:custDataLst>
              <p:tags r:id="rId9"/>
            </p:custDataLst>
          </p:nvPr>
        </p:nvCxnSpPr>
        <p:spPr>
          <a:xfrm rot="-8814">
            <a:off x="6286508" y="3994150"/>
            <a:ext cx="4953000" cy="12700"/>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23" name="AutoShape 18"/>
          <p:cNvSpPr/>
          <p:nvPr>
            <p:custDataLst>
              <p:tags r:id="rId10"/>
            </p:custDataLst>
          </p:nvPr>
        </p:nvSpPr>
        <p:spPr>
          <a:xfrm>
            <a:off x="6286500" y="4127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支持YOLO格式自定义数据集上传，提供模型尺寸、训练周期、批量大小及学习率等关键参数的可视化配置界面，适配多样化的训练场景需求。</a:t>
            </a:r>
            <a:endParaRPr lang="en-US" sz="1100"/>
          </a:p>
        </p:txBody>
      </p:sp>
      <p:sp>
        <p:nvSpPr>
          <p:cNvPr id="24" name="AutoShape 19"/>
          <p:cNvSpPr/>
          <p:nvPr>
            <p:custDataLst>
              <p:tags r:id="rId11"/>
            </p:custDataLst>
          </p:nvPr>
        </p:nvSpPr>
        <p:spPr>
          <a:xfrm>
            <a:off x="6096000" y="5080000"/>
            <a:ext cx="5334000" cy="13970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25" name="Picture 20"/>
          <p:cNvPicPr>
            <a:picLocks noChangeAspect="1"/>
          </p:cNvPicPr>
          <p:nvPr>
            <p:custDataLst>
              <p:tags r:id="rId1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286500" y="5270500"/>
            <a:ext cx="304800" cy="304800"/>
          </a:xfrm>
          <a:prstGeom prst="rect">
            <a:avLst/>
          </a:prstGeom>
        </p:spPr>
      </p:pic>
      <p:sp>
        <p:nvSpPr>
          <p:cNvPr id="26" name="AutoShape 21"/>
          <p:cNvSpPr/>
          <p:nvPr>
            <p:custDataLst>
              <p:tags r:id="rId13"/>
            </p:custDataLst>
          </p:nvPr>
        </p:nvSpPr>
        <p:spPr>
          <a:xfrm>
            <a:off x="6731000" y="5232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报告生成模块 </a:t>
            </a:r>
            <a:endParaRPr lang="en-US" sz="1100"/>
          </a:p>
        </p:txBody>
      </p:sp>
      <p:cxnSp>
        <p:nvCxnSpPr>
          <p:cNvPr id="27" name="Connector 22"/>
          <p:cNvCxnSpPr/>
          <p:nvPr>
            <p:custDataLst>
              <p:tags r:id="rId14"/>
            </p:custDataLst>
          </p:nvPr>
        </p:nvCxnSpPr>
        <p:spPr>
          <a:xfrm rot="-8814">
            <a:off x="6286508" y="5683250"/>
            <a:ext cx="4953000" cy="12700"/>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28" name="AutoShape 23"/>
          <p:cNvSpPr/>
          <p:nvPr>
            <p:custDataLst>
              <p:tags r:id="rId15"/>
            </p:custDataLst>
          </p:nvPr>
        </p:nvSpPr>
        <p:spPr>
          <a:xfrm>
            <a:off x="6286500" y="57912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一键生成标准化PDF检测报告，整合项目信息、缺陷统计、关键病害详情、PCI指数评估及可视化图表，满足行业验收规范。</a:t>
            </a:r>
            <a:endParaRPr lang="en-US" sz="1100"/>
          </a:p>
        </p:txBody>
      </p:sp>
      <p:pic>
        <p:nvPicPr>
          <p:cNvPr id="30" name="图片 29"/>
          <p:cNvPicPr>
            <a:picLocks noChangeAspect="1"/>
          </p:cNvPicPr>
          <p:nvPr/>
        </p:nvPicPr>
        <p:blipFill>
          <a:blip r:embed="rId25"/>
          <a:stretch>
            <a:fillRect/>
          </a:stretch>
        </p:blipFill>
        <p:spPr>
          <a:xfrm>
            <a:off x="800100" y="1651000"/>
            <a:ext cx="4766945" cy="3105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6096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总体设计</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22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软件总体设计说明和创新型功能模块描述</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830" y="6096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7" name="AutoShape 17"/>
          <p:cNvSpPr/>
          <p:nvPr/>
        </p:nvSpPr>
        <p:spPr>
          <a:xfrm>
            <a:off x="1026160" y="313055"/>
            <a:ext cx="2112645" cy="91884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2800">
                <a:latin typeface="Noto Sans SC" panose="020B0200000000000000" charset="-122"/>
                <a:ea typeface="Noto Sans SC" panose="020B0200000000000000" charset="-122"/>
                <a:cs typeface="Noto Sans SC" panose="020B0200000000000000" charset="-122"/>
              </a:rPr>
              <a:t>整体界面</a:t>
            </a:r>
          </a:p>
        </p:txBody>
      </p:sp>
      <p:pic>
        <p:nvPicPr>
          <p:cNvPr id="30" name="图片 29"/>
          <p:cNvPicPr>
            <a:picLocks noChangeAspect="1"/>
          </p:cNvPicPr>
          <p:nvPr/>
        </p:nvPicPr>
        <p:blipFill>
          <a:blip r:embed="rId4"/>
          <a:stretch>
            <a:fillRect/>
          </a:stretch>
        </p:blipFill>
        <p:spPr>
          <a:xfrm>
            <a:off x="1946910" y="1285875"/>
            <a:ext cx="7939405" cy="51720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3"/>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软件总体分为六个模块</a:t>
            </a:r>
          </a:p>
        </p:txBody>
      </p:sp>
      <p:sp>
        <p:nvSpPr>
          <p:cNvPr id="54" name="AutoShape 9"/>
          <p:cNvSpPr/>
          <p:nvPr>
            <p:custDataLst>
              <p:tags r:id="rId1"/>
            </p:custDataLst>
          </p:nvPr>
        </p:nvSpPr>
        <p:spPr>
          <a:xfrm>
            <a:off x="762000" y="1295400"/>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55" name="Picture 10"/>
          <p:cNvPicPr>
            <a:picLocks noChangeAspect="1"/>
          </p:cNvPicPr>
          <p:nvPr>
            <p:custDataLst>
              <p:tags r:id="rId2"/>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952500" y="1485900"/>
            <a:ext cx="254000" cy="304800"/>
          </a:xfrm>
          <a:prstGeom prst="rect">
            <a:avLst/>
          </a:prstGeom>
        </p:spPr>
      </p:pic>
      <p:sp>
        <p:nvSpPr>
          <p:cNvPr id="56" name="AutoShape 11"/>
          <p:cNvSpPr/>
          <p:nvPr>
            <p:custDataLst>
              <p:tags r:id="rId3"/>
            </p:custDataLst>
          </p:nvPr>
        </p:nvSpPr>
        <p:spPr>
          <a:xfrm>
            <a:off x="1397000" y="1447800"/>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cxnSp>
        <p:nvCxnSpPr>
          <p:cNvPr id="57" name="Connector 12"/>
          <p:cNvCxnSpPr/>
          <p:nvPr>
            <p:custDataLst>
              <p:tags r:id="rId4"/>
            </p:custDataLst>
          </p:nvPr>
        </p:nvCxnSpPr>
        <p:spPr>
          <a:xfrm>
            <a:off x="952508" y="1925320"/>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58" name="AutoShape 13"/>
          <p:cNvSpPr/>
          <p:nvPr>
            <p:custDataLst>
              <p:tags r:id="rId5"/>
            </p:custDataLst>
          </p:nvPr>
        </p:nvSpPr>
        <p:spPr>
          <a:xfrm>
            <a:off x="952500" y="2057400"/>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将原始 </a:t>
            </a:r>
            <a:r>
              <a:rPr lang="en-US" altLang="zh-CN">
                <a:latin typeface="Noto Sans SC" panose="020B0200000000000000" charset="-122"/>
                <a:ea typeface="Noto Sans SC" panose="020B0200000000000000" charset="-122"/>
                <a:cs typeface="Noto Sans SC" panose="020B0200000000000000" charset="-122"/>
              </a:rPr>
              <a:t>JSON </a:t>
            </a:r>
            <a:r>
              <a:rPr lang="zh-CN" altLang="en-US">
                <a:latin typeface="Noto Sans SC" panose="020B0200000000000000" charset="-122"/>
                <a:ea typeface="Noto Sans SC" panose="020B0200000000000000" charset="-122"/>
                <a:cs typeface="Noto Sans SC" panose="020B0200000000000000" charset="-122"/>
              </a:rPr>
              <a:t>标注数据转换为 </a:t>
            </a:r>
            <a:r>
              <a:rPr lang="en-US" altLang="zh-CN">
                <a:latin typeface="Noto Sans SC" panose="020B0200000000000000" charset="-122"/>
                <a:ea typeface="Noto Sans SC" panose="020B0200000000000000" charset="-122"/>
                <a:cs typeface="Noto Sans SC" panose="020B0200000000000000" charset="-122"/>
              </a:rPr>
              <a:t>YOLO </a:t>
            </a:r>
            <a:r>
              <a:rPr lang="zh-CN" altLang="en-US">
                <a:latin typeface="Noto Sans SC" panose="020B0200000000000000" charset="-122"/>
                <a:ea typeface="Noto Sans SC" panose="020B0200000000000000" charset="-122"/>
                <a:cs typeface="Noto Sans SC" panose="020B0200000000000000" charset="-122"/>
              </a:rPr>
              <a:t>格式，自动划分训练/验证集</a:t>
            </a:r>
          </a:p>
        </p:txBody>
      </p:sp>
      <p:sp>
        <p:nvSpPr>
          <p:cNvPr id="65" name="AutoShape 9"/>
          <p:cNvSpPr/>
          <p:nvPr>
            <p:custDataLst>
              <p:tags r:id="rId6"/>
            </p:custDataLst>
          </p:nvPr>
        </p:nvSpPr>
        <p:spPr>
          <a:xfrm>
            <a:off x="762635" y="3037205"/>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66" name="Picture 10"/>
          <p:cNvPicPr>
            <a:picLocks noChangeAspect="1"/>
          </p:cNvPicPr>
          <p:nvPr>
            <p:custDataLst>
              <p:tags r:id="rId7"/>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953135" y="3227705"/>
            <a:ext cx="254000" cy="304800"/>
          </a:xfrm>
          <a:prstGeom prst="rect">
            <a:avLst/>
          </a:prstGeom>
        </p:spPr>
      </p:pic>
      <p:sp>
        <p:nvSpPr>
          <p:cNvPr id="67" name="AutoShape 11"/>
          <p:cNvSpPr/>
          <p:nvPr>
            <p:custDataLst>
              <p:tags r:id="rId8"/>
            </p:custDataLst>
          </p:nvPr>
        </p:nvSpPr>
        <p:spPr>
          <a:xfrm>
            <a:off x="1397635" y="3189605"/>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缺陷检测 </a:t>
            </a:r>
            <a:endParaRPr lang="en-US" sz="1100"/>
          </a:p>
        </p:txBody>
      </p:sp>
      <p:cxnSp>
        <p:nvCxnSpPr>
          <p:cNvPr id="68" name="Connector 12"/>
          <p:cNvCxnSpPr/>
          <p:nvPr>
            <p:custDataLst>
              <p:tags r:id="rId9"/>
            </p:custDataLst>
          </p:nvPr>
        </p:nvCxnSpPr>
        <p:spPr>
          <a:xfrm>
            <a:off x="953143" y="3667125"/>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69" name="AutoShape 13"/>
          <p:cNvSpPr/>
          <p:nvPr>
            <p:custDataLst>
              <p:tags r:id="rId10"/>
            </p:custDataLst>
          </p:nvPr>
        </p:nvSpPr>
        <p:spPr>
          <a:xfrm>
            <a:off x="953135" y="3799205"/>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系统精准识别并分类裂缝、混凝土剥落、钢筋锈蚀、外露、风化、水渍渗漏及修补区域等7类核心缺陷，覆盖桥梁结构常见病害类型。</a:t>
            </a:r>
          </a:p>
        </p:txBody>
      </p:sp>
      <p:sp>
        <p:nvSpPr>
          <p:cNvPr id="70" name="AutoShape 9"/>
          <p:cNvSpPr/>
          <p:nvPr>
            <p:custDataLst>
              <p:tags r:id="rId11"/>
            </p:custDataLst>
          </p:nvPr>
        </p:nvSpPr>
        <p:spPr>
          <a:xfrm>
            <a:off x="763270" y="4804410"/>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71" name="Picture 10"/>
          <p:cNvPicPr>
            <a:picLocks noChangeAspect="1"/>
          </p:cNvPicPr>
          <p:nvPr>
            <p:custDataLst>
              <p:tags r:id="rId12"/>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953770" y="4994910"/>
            <a:ext cx="254000" cy="304800"/>
          </a:xfrm>
          <a:prstGeom prst="rect">
            <a:avLst/>
          </a:prstGeom>
        </p:spPr>
      </p:pic>
      <p:sp>
        <p:nvSpPr>
          <p:cNvPr id="72" name="AutoShape 11"/>
          <p:cNvSpPr/>
          <p:nvPr>
            <p:custDataLst>
              <p:tags r:id="rId13"/>
            </p:custDataLst>
          </p:nvPr>
        </p:nvSpPr>
        <p:spPr>
          <a:xfrm>
            <a:off x="1398270" y="4956810"/>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摄像头检测</a:t>
            </a: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cxnSp>
        <p:nvCxnSpPr>
          <p:cNvPr id="73" name="Connector 12"/>
          <p:cNvCxnSpPr/>
          <p:nvPr>
            <p:custDataLst>
              <p:tags r:id="rId14"/>
            </p:custDataLst>
          </p:nvPr>
        </p:nvCxnSpPr>
        <p:spPr>
          <a:xfrm>
            <a:off x="953778" y="5434330"/>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74" name="AutoShape 13"/>
          <p:cNvSpPr/>
          <p:nvPr>
            <p:custDataLst>
              <p:tags r:id="rId15"/>
            </p:custDataLst>
          </p:nvPr>
        </p:nvSpPr>
        <p:spPr>
          <a:xfrm>
            <a:off x="953770" y="5566410"/>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实时视频流检测，每 3 帧推理一次</a:t>
            </a:r>
          </a:p>
        </p:txBody>
      </p:sp>
      <p:sp>
        <p:nvSpPr>
          <p:cNvPr id="75" name="AutoShape 9"/>
          <p:cNvSpPr/>
          <p:nvPr>
            <p:custDataLst>
              <p:tags r:id="rId16"/>
            </p:custDataLst>
          </p:nvPr>
        </p:nvSpPr>
        <p:spPr>
          <a:xfrm>
            <a:off x="6085205" y="1295400"/>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76" name="Picture 10"/>
          <p:cNvPicPr>
            <a:picLocks noChangeAspect="1"/>
          </p:cNvPicPr>
          <p:nvPr>
            <p:custDataLst>
              <p:tags r:id="rId17"/>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275705" y="1485900"/>
            <a:ext cx="254000" cy="304800"/>
          </a:xfrm>
          <a:prstGeom prst="rect">
            <a:avLst/>
          </a:prstGeom>
        </p:spPr>
      </p:pic>
      <p:sp>
        <p:nvSpPr>
          <p:cNvPr id="77" name="AutoShape 11"/>
          <p:cNvSpPr/>
          <p:nvPr>
            <p:custDataLst>
              <p:tags r:id="rId18"/>
            </p:custDataLst>
          </p:nvPr>
        </p:nvSpPr>
        <p:spPr>
          <a:xfrm>
            <a:off x="6720205" y="1447800"/>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a:t>
            </a: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cxnSp>
        <p:nvCxnSpPr>
          <p:cNvPr id="78" name="Connector 12"/>
          <p:cNvCxnSpPr/>
          <p:nvPr>
            <p:custDataLst>
              <p:tags r:id="rId19"/>
            </p:custDataLst>
          </p:nvPr>
        </p:nvCxnSpPr>
        <p:spPr>
          <a:xfrm>
            <a:off x="6275713" y="1925320"/>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79" name="AutoShape 13"/>
          <p:cNvSpPr/>
          <p:nvPr>
            <p:custDataLst>
              <p:tags r:id="rId20"/>
            </p:custDataLst>
          </p:nvPr>
        </p:nvSpPr>
        <p:spPr>
          <a:xfrm>
            <a:off x="6275705" y="2057400"/>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基于 </a:t>
            </a:r>
            <a:r>
              <a:rPr lang="en-US" altLang="zh-CN">
                <a:latin typeface="Noto Sans SC" panose="020B0200000000000000" charset="-122"/>
                <a:ea typeface="Noto Sans SC" panose="020B0200000000000000" charset="-122"/>
                <a:cs typeface="Noto Sans SC" panose="020B0200000000000000" charset="-122"/>
              </a:rPr>
              <a:t>YOLOv8 </a:t>
            </a:r>
            <a:r>
              <a:rPr lang="zh-CN" altLang="en-US">
                <a:latin typeface="Noto Sans SC" panose="020B0200000000000000" charset="-122"/>
                <a:ea typeface="Noto Sans SC" panose="020B0200000000000000" charset="-122"/>
                <a:cs typeface="Noto Sans SC" panose="020B0200000000000000" charset="-122"/>
              </a:rPr>
              <a:t>训练自定义检测模型，支持 </a:t>
            </a:r>
            <a:r>
              <a:rPr lang="en-US" altLang="zh-CN">
                <a:latin typeface="Noto Sans SC" panose="020B0200000000000000" charset="-122"/>
                <a:ea typeface="Noto Sans SC" panose="020B0200000000000000" charset="-122"/>
                <a:cs typeface="Noto Sans SC" panose="020B0200000000000000" charset="-122"/>
              </a:rPr>
              <a:t>GPU </a:t>
            </a:r>
            <a:r>
              <a:rPr lang="zh-CN" altLang="en-US">
                <a:latin typeface="Noto Sans SC" panose="020B0200000000000000" charset="-122"/>
                <a:ea typeface="Noto Sans SC" panose="020B0200000000000000" charset="-122"/>
                <a:cs typeface="Noto Sans SC" panose="020B0200000000000000" charset="-122"/>
              </a:rPr>
              <a:t>加速、断点续训、进度回调</a:t>
            </a:r>
          </a:p>
        </p:txBody>
      </p:sp>
      <p:sp>
        <p:nvSpPr>
          <p:cNvPr id="80" name="AutoShape 9"/>
          <p:cNvSpPr/>
          <p:nvPr>
            <p:custDataLst>
              <p:tags r:id="rId21"/>
            </p:custDataLst>
          </p:nvPr>
        </p:nvSpPr>
        <p:spPr>
          <a:xfrm>
            <a:off x="6085205" y="3037205"/>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81" name="Picture 10"/>
          <p:cNvPicPr>
            <a:picLocks noChangeAspect="1"/>
          </p:cNvPicPr>
          <p:nvPr>
            <p:custDataLst>
              <p:tags r:id="rId22"/>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275705" y="3227705"/>
            <a:ext cx="254000" cy="304800"/>
          </a:xfrm>
          <a:prstGeom prst="rect">
            <a:avLst/>
          </a:prstGeom>
        </p:spPr>
      </p:pic>
      <p:sp>
        <p:nvSpPr>
          <p:cNvPr id="82" name="AutoShape 11"/>
          <p:cNvSpPr/>
          <p:nvPr>
            <p:custDataLst>
              <p:tags r:id="rId23"/>
            </p:custDataLst>
          </p:nvPr>
        </p:nvSpPr>
        <p:spPr>
          <a:xfrm>
            <a:off x="6720205" y="3189605"/>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批量检测</a:t>
            </a: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cxnSp>
        <p:nvCxnSpPr>
          <p:cNvPr id="83" name="Connector 12"/>
          <p:cNvCxnSpPr/>
          <p:nvPr>
            <p:custDataLst>
              <p:tags r:id="rId24"/>
            </p:custDataLst>
          </p:nvPr>
        </p:nvCxnSpPr>
        <p:spPr>
          <a:xfrm>
            <a:off x="6275713" y="3667125"/>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84" name="AutoShape 13"/>
          <p:cNvSpPr/>
          <p:nvPr>
            <p:custDataLst>
              <p:tags r:id="rId25"/>
            </p:custDataLst>
          </p:nvPr>
        </p:nvSpPr>
        <p:spPr>
          <a:xfrm>
            <a:off x="6275705" y="3799205"/>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选择文件夹批量检测所有图片，支持暂停/继续/重选</a:t>
            </a:r>
          </a:p>
        </p:txBody>
      </p:sp>
      <p:sp>
        <p:nvSpPr>
          <p:cNvPr id="85" name="AutoShape 9"/>
          <p:cNvSpPr/>
          <p:nvPr>
            <p:custDataLst>
              <p:tags r:id="rId26"/>
            </p:custDataLst>
          </p:nvPr>
        </p:nvSpPr>
        <p:spPr>
          <a:xfrm>
            <a:off x="6085840" y="4800600"/>
            <a:ext cx="4443730" cy="1460500"/>
          </a:xfrm>
          <a:prstGeom prst="roundRect">
            <a:avLst>
              <a:gd name="adj" fmla="val 0"/>
            </a:avLst>
          </a:prstGeom>
          <a:solidFill>
            <a:srgbClr val="FFFFFF">
              <a:alpha val="70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pic>
        <p:nvPicPr>
          <p:cNvPr id="86" name="Picture 10"/>
          <p:cNvPicPr>
            <a:picLocks noChangeAspect="1"/>
          </p:cNvPicPr>
          <p:nvPr>
            <p:custDataLst>
              <p:tags r:id="rId27"/>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276340" y="4991100"/>
            <a:ext cx="254000" cy="304800"/>
          </a:xfrm>
          <a:prstGeom prst="rect">
            <a:avLst/>
          </a:prstGeom>
        </p:spPr>
      </p:pic>
      <p:sp>
        <p:nvSpPr>
          <p:cNvPr id="87" name="AutoShape 11"/>
          <p:cNvSpPr/>
          <p:nvPr>
            <p:custDataLst>
              <p:tags r:id="rId28"/>
            </p:custDataLst>
          </p:nvPr>
        </p:nvSpPr>
        <p:spPr>
          <a:xfrm>
            <a:off x="6720840" y="4953000"/>
            <a:ext cx="38093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导出报告</a:t>
            </a: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cxnSp>
        <p:nvCxnSpPr>
          <p:cNvPr id="88" name="Connector 12"/>
          <p:cNvCxnSpPr/>
          <p:nvPr>
            <p:custDataLst>
              <p:tags r:id="rId29"/>
            </p:custDataLst>
          </p:nvPr>
        </p:nvCxnSpPr>
        <p:spPr>
          <a:xfrm>
            <a:off x="6276348" y="5430520"/>
            <a:ext cx="4126230" cy="75565"/>
          </a:xfrm>
          <a:prstGeom prst="straightConnector1">
            <a:avLst/>
          </a:prstGeom>
          <a:solidFill>
            <a:srgbClr val="DEE0E3">
              <a:alpha val="100000"/>
            </a:srgbClr>
          </a:solidFill>
          <a:ln w="12700" cap="flat" cmpd="sng">
            <a:solidFill>
              <a:srgbClr val="4F46E5">
                <a:alpha val="15000"/>
              </a:srgbClr>
            </a:solidFill>
            <a:prstDash val="solid"/>
            <a:round/>
            <a:headEnd type="none" w="med" len="med"/>
            <a:tailEnd type="none" w="med" len="med"/>
          </a:ln>
        </p:spPr>
      </p:cxnSp>
      <p:sp>
        <p:nvSpPr>
          <p:cNvPr id="89" name="AutoShape 13"/>
          <p:cNvSpPr/>
          <p:nvPr>
            <p:custDataLst>
              <p:tags r:id="rId30"/>
            </p:custDataLst>
          </p:nvPr>
        </p:nvSpPr>
        <p:spPr>
          <a:xfrm>
            <a:off x="6276340" y="5562600"/>
            <a:ext cx="4126865"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latin typeface="Noto Sans SC" panose="020B0200000000000000" charset="-122"/>
                <a:ea typeface="Noto Sans SC" panose="020B0200000000000000" charset="-122"/>
                <a:cs typeface="Noto Sans SC" panose="020B0200000000000000" charset="-122"/>
              </a:rPr>
              <a:t>导出 </a:t>
            </a:r>
            <a:r>
              <a:rPr lang="en-US" altLang="zh-CN">
                <a:latin typeface="Noto Sans SC" panose="020B0200000000000000" charset="-122"/>
                <a:ea typeface="Noto Sans SC" panose="020B0200000000000000" charset="-122"/>
                <a:cs typeface="Noto Sans SC" panose="020B0200000000000000" charset="-122"/>
              </a:rPr>
              <a:t>Excel (.xlsx) </a:t>
            </a:r>
            <a:r>
              <a:rPr lang="zh-CN" altLang="en-US">
                <a:latin typeface="Noto Sans SC" panose="020B0200000000000000" charset="-122"/>
                <a:ea typeface="Noto Sans SC" panose="020B0200000000000000" charset="-122"/>
                <a:cs typeface="Noto Sans SC" panose="020B0200000000000000" charset="-122"/>
              </a:rPr>
              <a:t>或 </a:t>
            </a:r>
            <a:r>
              <a:rPr lang="en-US" altLang="zh-CN">
                <a:latin typeface="Noto Sans SC" panose="020B0200000000000000" charset="-122"/>
                <a:ea typeface="Noto Sans SC" panose="020B0200000000000000" charset="-122"/>
                <a:cs typeface="Noto Sans SC" panose="020B0200000000000000" charset="-122"/>
              </a:rPr>
              <a:t>CSV </a:t>
            </a:r>
            <a:r>
              <a:rPr lang="zh-CN" altLang="en-US">
                <a:latin typeface="Noto Sans SC" panose="020B0200000000000000" charset="-122"/>
                <a:ea typeface="Noto Sans SC" panose="020B0200000000000000" charset="-122"/>
                <a:cs typeface="Noto Sans SC" panose="020B0200000000000000" charset="-122"/>
              </a:rPr>
              <a:t>格式检测报告 + 标注图片</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创新型功能模块描述</a:t>
            </a:r>
          </a:p>
        </p:txBody>
      </p:sp>
      <p:sp>
        <p:nvSpPr>
          <p:cNvPr id="5" name="AutoShape 5"/>
          <p:cNvSpPr/>
          <p:nvPr/>
        </p:nvSpPr>
        <p:spPr>
          <a:xfrm>
            <a:off x="762000" y="1651000"/>
            <a:ext cx="139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导出报告</a:t>
            </a:r>
          </a:p>
        </p:txBody>
      </p:sp>
      <p:sp>
        <p:nvSpPr>
          <p:cNvPr id="17" name="AutoShape 17"/>
          <p:cNvSpPr/>
          <p:nvPr/>
        </p:nvSpPr>
        <p:spPr>
          <a:xfrm>
            <a:off x="526415" y="4646295"/>
            <a:ext cx="3560445" cy="85661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1600">
                <a:latin typeface="Noto Sans SC" panose="020B0200000000000000" charset="-122"/>
                <a:ea typeface="Noto Sans SC" panose="020B0200000000000000" charset="-122"/>
                <a:cs typeface="Noto Sans SC" panose="020B0200000000000000" charset="-122"/>
              </a:rPr>
              <a:t>导出</a:t>
            </a:r>
            <a:r>
              <a:rPr lang="en-US" altLang="zh-CN" sz="1600">
                <a:latin typeface="Noto Sans SC" panose="020B0200000000000000" charset="-122"/>
                <a:ea typeface="Noto Sans SC" panose="020B0200000000000000" charset="-122"/>
                <a:cs typeface="Noto Sans SC" panose="020B0200000000000000" charset="-122"/>
              </a:rPr>
              <a:t> </a:t>
            </a:r>
            <a:r>
              <a:rPr lang="zh-CN" altLang="en-US" sz="1600">
                <a:latin typeface="Noto Sans SC" panose="020B0200000000000000" charset="-122"/>
                <a:ea typeface="Noto Sans SC" panose="020B0200000000000000" charset="-122"/>
                <a:cs typeface="Noto Sans SC" panose="020B0200000000000000" charset="-122"/>
              </a:rPr>
              <a:t>的报告以表格的形式呈现</a:t>
            </a:r>
          </a:p>
        </p:txBody>
      </p:sp>
      <p:pic>
        <p:nvPicPr>
          <p:cNvPr id="20" name="图片 19"/>
          <p:cNvPicPr>
            <a:picLocks noChangeAspect="1"/>
          </p:cNvPicPr>
          <p:nvPr/>
        </p:nvPicPr>
        <p:blipFill>
          <a:blip r:embed="rId4"/>
          <a:stretch>
            <a:fillRect/>
          </a:stretch>
        </p:blipFill>
        <p:spPr>
          <a:xfrm>
            <a:off x="2286635" y="1170305"/>
            <a:ext cx="4554220" cy="2968625"/>
          </a:xfrm>
          <a:prstGeom prst="rect">
            <a:avLst/>
          </a:prstGeom>
        </p:spPr>
      </p:pic>
      <p:pic>
        <p:nvPicPr>
          <p:cNvPr id="21" name="图片 20"/>
          <p:cNvPicPr>
            <a:picLocks noChangeAspect="1"/>
          </p:cNvPicPr>
          <p:nvPr/>
        </p:nvPicPr>
        <p:blipFill>
          <a:blip r:embed="rId5"/>
          <a:stretch>
            <a:fillRect/>
          </a:stretch>
        </p:blipFill>
        <p:spPr>
          <a:xfrm>
            <a:off x="6968490" y="1170305"/>
            <a:ext cx="4638040" cy="3016250"/>
          </a:xfrm>
          <a:prstGeom prst="rect">
            <a:avLst/>
          </a:prstGeom>
        </p:spPr>
      </p:pic>
      <p:cxnSp>
        <p:nvCxnSpPr>
          <p:cNvPr id="22" name="直接箭头连接符 21"/>
          <p:cNvCxnSpPr/>
          <p:nvPr/>
        </p:nvCxnSpPr>
        <p:spPr>
          <a:xfrm flipH="1">
            <a:off x="4860290" y="2083435"/>
            <a:ext cx="6343650" cy="24695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23" name="对象 22">
            <a:hlinkClick r:id="" action="ppaction://ole?verb=0"/>
          </p:cNvPr>
          <p:cNvGraphicFramePr>
            <a:graphicFrameLocks noChangeAspect="1"/>
          </p:cNvGraphicFramePr>
          <p:nvPr/>
        </p:nvGraphicFramePr>
        <p:xfrm>
          <a:off x="4086860" y="4646295"/>
          <a:ext cx="1249045" cy="857250"/>
        </p:xfrm>
        <a:graphic>
          <a:graphicData uri="http://schemas.openxmlformats.org/presentationml/2006/ole">
            <mc:AlternateContent xmlns:mc="http://schemas.openxmlformats.org/markup-compatibility/2006">
              <mc:Choice xmlns:v="urn:schemas-microsoft-com:vml" Requires="v">
                <p:oleObj showAsIcon="1" r:id="rId6" imgW="971550" imgH="666750" progId="Excel.Sheet.12">
                  <p:embed/>
                </p:oleObj>
              </mc:Choice>
              <mc:Fallback>
                <p:oleObj showAsIcon="1" r:id="rId6" imgW="971550" imgH="666750" progId="Excel.Sheet.12">
                  <p:embed/>
                  <p:pic>
                    <p:nvPicPr>
                      <p:cNvPr id="0" name="图片 1024"/>
                      <p:cNvPicPr/>
                      <p:nvPr/>
                    </p:nvPicPr>
                    <p:blipFill>
                      <a:blip r:embed="rId7"/>
                      <a:stretch>
                        <a:fillRect/>
                      </a:stretch>
                    </p:blipFill>
                    <p:spPr>
                      <a:xfrm>
                        <a:off x="4086860" y="4646295"/>
                        <a:ext cx="1249045" cy="85725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7945"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nvSpPr>
        <p:spPr>
          <a:xfrm>
            <a:off x="762000" y="419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8" name="AutoShape 5"/>
          <p:cNvSpPr/>
          <p:nvPr/>
        </p:nvSpPr>
        <p:spPr>
          <a:xfrm>
            <a:off x="664845" y="1851025"/>
            <a:ext cx="174498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摄像头检测</a:t>
            </a:r>
          </a:p>
        </p:txBody>
      </p:sp>
      <p:pic>
        <p:nvPicPr>
          <p:cNvPr id="9" name="图片 8"/>
          <p:cNvPicPr>
            <a:picLocks noChangeAspect="1"/>
          </p:cNvPicPr>
          <p:nvPr/>
        </p:nvPicPr>
        <p:blipFill>
          <a:blip r:embed="rId4"/>
          <a:stretch>
            <a:fillRect/>
          </a:stretch>
        </p:blipFill>
        <p:spPr>
          <a:xfrm>
            <a:off x="2311400" y="484505"/>
            <a:ext cx="5969635" cy="3893185"/>
          </a:xfrm>
          <a:prstGeom prst="rect">
            <a:avLst/>
          </a:prstGeom>
        </p:spPr>
      </p:pic>
      <p:sp>
        <p:nvSpPr>
          <p:cNvPr id="17" name="AutoShape 17"/>
          <p:cNvSpPr/>
          <p:nvPr/>
        </p:nvSpPr>
        <p:spPr>
          <a:xfrm>
            <a:off x="1767205" y="4578350"/>
            <a:ext cx="7781925" cy="154432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altLang="en-US" sz="1800">
                <a:latin typeface="Noto Sans SC" panose="020B0200000000000000" charset="-122"/>
                <a:ea typeface="Noto Sans SC" panose="020B0200000000000000" charset="-122"/>
                <a:cs typeface="Noto Sans SC" panose="020B0200000000000000" charset="-122"/>
              </a:rPr>
              <a:t>调用计算机默认摄像头（</a:t>
            </a:r>
            <a:r>
              <a:rPr lang="en-US" altLang="zh-CN" sz="1800">
                <a:latin typeface="Noto Sans SC" panose="020B0200000000000000" charset="-122"/>
                <a:ea typeface="Noto Sans SC" panose="020B0200000000000000" charset="-122"/>
                <a:cs typeface="Noto Sans SC" panose="020B0200000000000000" charset="-122"/>
              </a:rPr>
              <a:t>USB </a:t>
            </a:r>
            <a:r>
              <a:rPr lang="zh-CN" altLang="en-US" sz="1800">
                <a:latin typeface="Noto Sans SC" panose="020B0200000000000000" charset="-122"/>
                <a:ea typeface="Noto Sans SC" panose="020B0200000000000000" charset="-122"/>
                <a:cs typeface="Noto Sans SC" panose="020B0200000000000000" charset="-122"/>
              </a:rPr>
              <a:t>摄像头或笔记本内置摄像头），实时采集视频流并进行缺陷检测，检测结果实时叠加显示。</a:t>
            </a:r>
            <a:r>
              <a:rPr lang="zh-CN" sz="1800">
                <a:latin typeface="Noto Sans SC" panose="020B0200000000000000" charset="-122"/>
                <a:ea typeface="Noto Sans SC" panose="020B0200000000000000" charset="-122"/>
                <a:cs typeface="Noto Sans SC" panose="020B0200000000000000" charset="-122"/>
              </a:rPr>
              <a:t>由于缺少实地场景，这里用平板播放图片代替，可以看到，摄像头检测也可以检测出一定的缺陷</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6383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5"/>
          <p:cNvSpPr/>
          <p:nvPr/>
        </p:nvSpPr>
        <p:spPr>
          <a:xfrm>
            <a:off x="527685" y="1832610"/>
            <a:ext cx="266319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模型切换与轮次训练</a:t>
            </a:r>
          </a:p>
        </p:txBody>
      </p:sp>
      <p:pic>
        <p:nvPicPr>
          <p:cNvPr id="31" name="图片 30"/>
          <p:cNvPicPr>
            <a:picLocks noChangeAspect="1"/>
          </p:cNvPicPr>
          <p:nvPr/>
        </p:nvPicPr>
        <p:blipFill>
          <a:blip r:embed="rId4"/>
          <a:stretch>
            <a:fillRect/>
          </a:stretch>
        </p:blipFill>
        <p:spPr>
          <a:xfrm>
            <a:off x="3190875" y="-73660"/>
            <a:ext cx="3271520" cy="6858000"/>
          </a:xfrm>
          <a:prstGeom prst="rect">
            <a:avLst/>
          </a:prstGeom>
        </p:spPr>
      </p:pic>
      <p:cxnSp>
        <p:nvCxnSpPr>
          <p:cNvPr id="32" name="直接箭头连接符 31"/>
          <p:cNvCxnSpPr/>
          <p:nvPr/>
        </p:nvCxnSpPr>
        <p:spPr>
          <a:xfrm flipV="1">
            <a:off x="3685540" y="1220470"/>
            <a:ext cx="3607435" cy="18268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3" name="AutoShape 17"/>
          <p:cNvSpPr/>
          <p:nvPr/>
        </p:nvSpPr>
        <p:spPr>
          <a:xfrm>
            <a:off x="7292975" y="698500"/>
            <a:ext cx="4481830" cy="197294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altLang="en-US" sz="1600">
                <a:latin typeface="Noto Sans SC" panose="020B0200000000000000" charset="-122"/>
                <a:ea typeface="Noto Sans SC" panose="020B0200000000000000" charset="-122"/>
                <a:cs typeface="Noto Sans SC" panose="020B0200000000000000" charset="-122"/>
              </a:rPr>
              <a:t>下拉框列出项目中所有可用的 .</a:t>
            </a:r>
            <a:r>
              <a:rPr lang="en-US" altLang="zh-CN" sz="1600">
                <a:latin typeface="Noto Sans SC" panose="020B0200000000000000" charset="-122"/>
                <a:ea typeface="Noto Sans SC" panose="020B0200000000000000" charset="-122"/>
                <a:cs typeface="Noto Sans SC" panose="020B0200000000000000" charset="-122"/>
              </a:rPr>
              <a:t>pt </a:t>
            </a:r>
            <a:r>
              <a:rPr lang="zh-CN" altLang="en-US" sz="1600">
                <a:latin typeface="Noto Sans SC" panose="020B0200000000000000" charset="-122"/>
                <a:ea typeface="Noto Sans SC" panose="020B0200000000000000" charset="-122"/>
                <a:cs typeface="Noto Sans SC" panose="020B0200000000000000" charset="-122"/>
              </a:rPr>
              <a:t>模型文件。切换后自动加载新模型，状态栏显示"模型已切换</a:t>
            </a:r>
          </a:p>
          <a:p>
            <a:pPr algn="l">
              <a:defRPr/>
            </a:pPr>
            <a:endParaRPr lang="zh-CN" altLang="en-US" sz="1600">
              <a:latin typeface="Noto Sans SC" panose="020B0200000000000000" charset="-122"/>
              <a:ea typeface="Noto Sans SC" panose="020B0200000000000000" charset="-122"/>
              <a:cs typeface="Noto Sans SC" panose="020B0200000000000000" charset="-122"/>
            </a:endParaRPr>
          </a:p>
          <a:p>
            <a:pPr algn="l">
              <a:defRPr/>
            </a:pPr>
            <a:r>
              <a:rPr lang="zh-CN" altLang="en-US" sz="1600">
                <a:latin typeface="Noto Sans SC" panose="020B0200000000000000" charset="-122"/>
                <a:ea typeface="Noto Sans SC" panose="020B0200000000000000" charset="-122"/>
                <a:cs typeface="Noto Sans SC" panose="020B0200000000000000" charset="-122"/>
              </a:rPr>
              <a:t>切换多个不同模型做同一份数据检测，提升召回率，减少漏检、降低误检，过滤错误结果、增强场景鲁棒性</a:t>
            </a:r>
          </a:p>
        </p:txBody>
      </p:sp>
      <p:cxnSp>
        <p:nvCxnSpPr>
          <p:cNvPr id="3" name="直接箭头连接符 2"/>
          <p:cNvCxnSpPr/>
          <p:nvPr/>
        </p:nvCxnSpPr>
        <p:spPr>
          <a:xfrm>
            <a:off x="3950335" y="3471545"/>
            <a:ext cx="3171190" cy="6432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AutoShape 17"/>
          <p:cNvSpPr/>
          <p:nvPr/>
        </p:nvSpPr>
        <p:spPr>
          <a:xfrm>
            <a:off x="7292975" y="3789680"/>
            <a:ext cx="4481830" cy="85661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sz="1600">
                <a:latin typeface="Noto Sans SC" panose="020B0200000000000000" charset="-122"/>
                <a:ea typeface="Noto Sans SC" panose="020B0200000000000000" charset="-122"/>
                <a:cs typeface="Noto Sans SC" panose="020B0200000000000000" charset="-122"/>
              </a:rPr>
              <a:t>这里可以设置模型的训练轮数，最大</a:t>
            </a:r>
            <a:r>
              <a:rPr lang="en-US" altLang="zh-CN" sz="1600">
                <a:latin typeface="Noto Sans SC" panose="020B0200000000000000" charset="-122"/>
                <a:ea typeface="Noto Sans SC" panose="020B0200000000000000" charset="-122"/>
                <a:cs typeface="Noto Sans SC" panose="020B0200000000000000" charset="-122"/>
              </a:rPr>
              <a:t>999</a:t>
            </a:r>
            <a:r>
              <a:rPr lang="zh-CN" altLang="en-US" sz="1600">
                <a:latin typeface="Noto Sans SC" panose="020B0200000000000000" charset="-122"/>
                <a:ea typeface="Noto Sans SC" panose="020B0200000000000000" charset="-122"/>
                <a:cs typeface="Noto Sans SC" panose="020B0200000000000000" charset="-122"/>
              </a:rPr>
              <a:t>轮、最小</a:t>
            </a:r>
            <a:r>
              <a:rPr lang="en-US" altLang="zh-CN" sz="1600">
                <a:latin typeface="Noto Sans SC" panose="020B0200000000000000" charset="-122"/>
                <a:ea typeface="Noto Sans SC" panose="020B0200000000000000" charset="-122"/>
                <a:cs typeface="Noto Sans SC" panose="020B0200000000000000" charset="-122"/>
              </a:rPr>
              <a:t>1</a:t>
            </a:r>
            <a:r>
              <a:rPr lang="zh-CN" altLang="en-US" sz="1600">
                <a:latin typeface="Noto Sans SC" panose="020B0200000000000000" charset="-122"/>
                <a:ea typeface="Noto Sans SC" panose="020B0200000000000000" charset="-122"/>
                <a:cs typeface="Noto Sans SC" panose="020B0200000000000000" charset="-122"/>
              </a:rPr>
              <a:t>轮。设置不同的训练轮数以防止过拟合与欠拟合。</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05815"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nvSpPr>
        <p:spPr>
          <a:xfrm>
            <a:off x="762000" y="419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8" name="AutoShape 5"/>
          <p:cNvSpPr/>
          <p:nvPr/>
        </p:nvSpPr>
        <p:spPr>
          <a:xfrm>
            <a:off x="518795" y="1382395"/>
            <a:ext cx="174498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置信度阈值</a:t>
            </a:r>
          </a:p>
        </p:txBody>
      </p:sp>
      <p:pic>
        <p:nvPicPr>
          <p:cNvPr id="5" name="图片 4"/>
          <p:cNvPicPr>
            <a:picLocks noChangeAspect="1"/>
          </p:cNvPicPr>
          <p:nvPr/>
        </p:nvPicPr>
        <p:blipFill>
          <a:blip r:embed="rId4"/>
          <a:stretch>
            <a:fillRect/>
          </a:stretch>
        </p:blipFill>
        <p:spPr>
          <a:xfrm>
            <a:off x="2263775" y="633095"/>
            <a:ext cx="2051685" cy="4933950"/>
          </a:xfrm>
          <a:prstGeom prst="rect">
            <a:avLst/>
          </a:prstGeom>
        </p:spPr>
      </p:pic>
      <p:pic>
        <p:nvPicPr>
          <p:cNvPr id="7" name="图片 6"/>
          <p:cNvPicPr>
            <a:picLocks noChangeAspect="1"/>
          </p:cNvPicPr>
          <p:nvPr/>
        </p:nvPicPr>
        <p:blipFill>
          <a:blip r:embed="rId5"/>
          <a:stretch>
            <a:fillRect/>
          </a:stretch>
        </p:blipFill>
        <p:spPr>
          <a:xfrm>
            <a:off x="4544060" y="633095"/>
            <a:ext cx="2012950" cy="4933950"/>
          </a:xfrm>
          <a:prstGeom prst="rect">
            <a:avLst/>
          </a:prstGeom>
        </p:spPr>
      </p:pic>
      <p:sp>
        <p:nvSpPr>
          <p:cNvPr id="12" name="AutoShape 17"/>
          <p:cNvSpPr/>
          <p:nvPr/>
        </p:nvSpPr>
        <p:spPr>
          <a:xfrm>
            <a:off x="7157085" y="1406525"/>
            <a:ext cx="4491990" cy="3036570"/>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altLang="en-US" sz="1600">
                <a:latin typeface="Noto Sans SC" panose="020B0200000000000000" charset="-122"/>
                <a:ea typeface="Noto Sans SC" panose="020B0200000000000000" charset="-122"/>
                <a:cs typeface="Noto Sans SC" panose="020B0200000000000000" charset="-122"/>
              </a:rPr>
              <a:t>置信度阈值:</a:t>
            </a:r>
            <a:r>
              <a:rPr lang="en-US" altLang="en-US" sz="1600">
                <a:latin typeface="Noto Sans SC" panose="020B0200000000000000" charset="-122"/>
                <a:ea typeface="Noto Sans SC" panose="020B0200000000000000" charset="-122"/>
                <a:cs typeface="Noto Sans SC" panose="020B0200000000000000" charset="-122"/>
              </a:rPr>
              <a:t></a:t>
            </a:r>
          </a:p>
          <a:p>
            <a:pPr algn="l">
              <a:defRPr/>
            </a:pPr>
            <a:r>
              <a:rPr lang="zh-CN" altLang="en-US" sz="1600">
                <a:latin typeface="Noto Sans SC" panose="020B0200000000000000" charset="-122"/>
                <a:ea typeface="Noto Sans SC" panose="020B0200000000000000" charset="-122"/>
                <a:cs typeface="Noto Sans SC" panose="020B0200000000000000" charset="-122"/>
              </a:rPr>
              <a:t>滑块范围：10% – 100%</a:t>
            </a:r>
          </a:p>
          <a:p>
            <a:pPr algn="l">
              <a:defRPr/>
            </a:pPr>
            <a:r>
              <a:rPr lang="zh-CN" altLang="en-US" sz="1600">
                <a:latin typeface="Noto Sans SC" panose="020B0200000000000000" charset="-122"/>
                <a:ea typeface="Noto Sans SC" panose="020B0200000000000000" charset="-122"/>
                <a:cs typeface="Noto Sans SC" panose="020B0200000000000000" charset="-122"/>
              </a:rPr>
              <a:t>默认值：30%</a:t>
            </a:r>
          </a:p>
          <a:p>
            <a:pPr algn="l">
              <a:defRPr/>
            </a:pPr>
            <a:r>
              <a:rPr lang="zh-CN" altLang="en-US" sz="1600">
                <a:latin typeface="Noto Sans SC" panose="020B0200000000000000" charset="-122"/>
                <a:ea typeface="Noto Sans SC" panose="020B0200000000000000" charset="-122"/>
                <a:cs typeface="Noto Sans SC" panose="020B0200000000000000" charset="-122"/>
              </a:rPr>
              <a:t>步长：10%（滑块刻度）</a:t>
            </a:r>
          </a:p>
          <a:p>
            <a:pPr algn="l">
              <a:defRPr/>
            </a:pPr>
            <a:r>
              <a:rPr lang="zh-CN" altLang="en-US" sz="1600">
                <a:latin typeface="Noto Sans SC" panose="020B0200000000000000" charset="-122"/>
                <a:ea typeface="Noto Sans SC" panose="020B0200000000000000" charset="-122"/>
                <a:cs typeface="Noto Sans SC" panose="020B0200000000000000" charset="-122"/>
              </a:rPr>
              <a:t>实时生效：调整后立即应用于后续检测</a:t>
            </a:r>
          </a:p>
          <a:p>
            <a:pPr algn="l">
              <a:defRPr/>
            </a:pPr>
            <a:endParaRPr lang="zh-CN" altLang="en-US" sz="1600">
              <a:latin typeface="Noto Sans SC" panose="020B0200000000000000" charset="-122"/>
              <a:ea typeface="Noto Sans SC" panose="020B0200000000000000" charset="-122"/>
              <a:cs typeface="Noto Sans SC" panose="020B0200000000000000" charset="-122"/>
            </a:endParaRPr>
          </a:p>
          <a:p>
            <a:pPr algn="l">
              <a:defRPr/>
            </a:pPr>
            <a:r>
              <a:rPr lang="zh-CN" altLang="en-US" sz="1600">
                <a:latin typeface="Noto Sans SC" panose="020B0200000000000000" charset="-122"/>
                <a:ea typeface="Noto Sans SC" panose="020B0200000000000000" charset="-122"/>
                <a:cs typeface="Noto Sans SC" panose="020B0200000000000000" charset="-122"/>
              </a:rPr>
              <a:t>阈值含义:</a:t>
            </a:r>
            <a:r>
              <a:rPr lang="en-US" altLang="en-US" sz="1600">
                <a:latin typeface="Noto Sans SC" panose="020B0200000000000000" charset="-122"/>
                <a:ea typeface="Noto Sans SC" panose="020B0200000000000000" charset="-122"/>
                <a:cs typeface="Noto Sans SC" panose="020B0200000000000000" charset="-122"/>
              </a:rPr>
              <a:t></a:t>
            </a:r>
          </a:p>
          <a:p>
            <a:pPr algn="l">
              <a:defRPr/>
            </a:pPr>
            <a:r>
              <a:rPr lang="zh-CN" altLang="en-US" sz="1600">
                <a:latin typeface="Noto Sans SC" panose="020B0200000000000000" charset="-122"/>
                <a:ea typeface="Noto Sans SC" panose="020B0200000000000000" charset="-122"/>
                <a:cs typeface="Noto Sans SC" panose="020B0200000000000000" charset="-122"/>
              </a:rPr>
              <a:t>阈值越低 → 检出更多潜在缺陷，但误报可能增加</a:t>
            </a:r>
          </a:p>
          <a:p>
            <a:pPr algn="l">
              <a:defRPr/>
            </a:pPr>
            <a:r>
              <a:rPr lang="zh-CN" altLang="en-US" sz="1600">
                <a:latin typeface="Noto Sans SC" panose="020B0200000000000000" charset="-122"/>
                <a:ea typeface="Noto Sans SC" panose="020B0200000000000000" charset="-122"/>
                <a:cs typeface="Noto Sans SC" panose="020B0200000000000000" charset="-122"/>
              </a:rPr>
              <a:t>阈值越高 → 结果更可靠，但可能漏检</a:t>
            </a:r>
          </a:p>
          <a:p>
            <a:pPr algn="l">
              <a:defRPr/>
            </a:pPr>
            <a:r>
              <a:rPr lang="zh-CN" altLang="en-US" sz="1600">
                <a:latin typeface="Noto Sans SC" panose="020B0200000000000000" charset="-122"/>
                <a:ea typeface="Noto Sans SC" panose="020B0200000000000000" charset="-122"/>
                <a:cs typeface="Noto Sans SC" panose="020B0200000000000000" charset="-122"/>
              </a:rPr>
              <a:t>建议：裂缝检测使用 25%–35%，重要结构检查使用 50%+</a:t>
            </a:r>
          </a:p>
        </p:txBody>
      </p:sp>
      <p:cxnSp>
        <p:nvCxnSpPr>
          <p:cNvPr id="13" name="直接箭头连接符 12"/>
          <p:cNvCxnSpPr/>
          <p:nvPr/>
        </p:nvCxnSpPr>
        <p:spPr>
          <a:xfrm flipV="1">
            <a:off x="3171190" y="1911985"/>
            <a:ext cx="3928745" cy="17475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5638165" y="2051685"/>
            <a:ext cx="1449705" cy="15773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7945" y="0"/>
            <a:ext cx="1226058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8" name="AutoShape 5"/>
          <p:cNvSpPr/>
          <p:nvPr/>
        </p:nvSpPr>
        <p:spPr>
          <a:xfrm>
            <a:off x="664845" y="1851025"/>
            <a:ext cx="174498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05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检测统计</a:t>
            </a:r>
          </a:p>
        </p:txBody>
      </p:sp>
      <p:pic>
        <p:nvPicPr>
          <p:cNvPr id="5" name="图片 4"/>
          <p:cNvPicPr>
            <a:picLocks noChangeAspect="1"/>
          </p:cNvPicPr>
          <p:nvPr/>
        </p:nvPicPr>
        <p:blipFill>
          <a:blip r:embed="rId4"/>
          <a:stretch>
            <a:fillRect/>
          </a:stretch>
        </p:blipFill>
        <p:spPr>
          <a:xfrm>
            <a:off x="2073910" y="468630"/>
            <a:ext cx="2197100" cy="5664835"/>
          </a:xfrm>
          <a:prstGeom prst="rect">
            <a:avLst/>
          </a:prstGeom>
        </p:spPr>
      </p:pic>
      <p:sp>
        <p:nvSpPr>
          <p:cNvPr id="11" name="矩形 10"/>
          <p:cNvSpPr/>
          <p:nvPr/>
        </p:nvSpPr>
        <p:spPr>
          <a:xfrm>
            <a:off x="2163445" y="3543935"/>
            <a:ext cx="1930400" cy="244856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 name="直接箭头连接符 11"/>
          <p:cNvCxnSpPr/>
          <p:nvPr/>
        </p:nvCxnSpPr>
        <p:spPr>
          <a:xfrm flipV="1">
            <a:off x="4107180" y="2783205"/>
            <a:ext cx="1918335" cy="16744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AutoShape 17"/>
          <p:cNvSpPr/>
          <p:nvPr/>
        </p:nvSpPr>
        <p:spPr>
          <a:xfrm>
            <a:off x="6038850" y="2413000"/>
            <a:ext cx="4314825" cy="204533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sz="1600">
                <a:latin typeface="Noto Sans SC" panose="020B0200000000000000" charset="-122"/>
                <a:ea typeface="Noto Sans SC" panose="020B0200000000000000" charset="-122"/>
                <a:cs typeface="Noto Sans SC" panose="020B0200000000000000" charset="-122"/>
              </a:rPr>
              <a:t>这里以批量统计</a:t>
            </a:r>
            <a:r>
              <a:rPr lang="en-US" altLang="zh-CN" sz="1600">
                <a:latin typeface="Noto Sans SC" panose="020B0200000000000000" charset="-122"/>
                <a:ea typeface="Noto Sans SC" panose="020B0200000000000000" charset="-122"/>
                <a:cs typeface="Noto Sans SC" panose="020B0200000000000000" charset="-122"/>
              </a:rPr>
              <a:t>50</a:t>
            </a:r>
            <a:r>
              <a:rPr lang="zh-CN" altLang="en-US" sz="1600">
                <a:latin typeface="Noto Sans SC" panose="020B0200000000000000" charset="-122"/>
                <a:ea typeface="Noto Sans SC" panose="020B0200000000000000" charset="-122"/>
                <a:cs typeface="Noto Sans SC" panose="020B0200000000000000" charset="-122"/>
              </a:rPr>
              <a:t>张图片为例，我们把置信度阈值调到</a:t>
            </a:r>
            <a:r>
              <a:rPr lang="en-US" altLang="zh-CN" sz="1600">
                <a:latin typeface="Noto Sans SC" panose="020B0200000000000000" charset="-122"/>
                <a:ea typeface="Noto Sans SC" panose="020B0200000000000000" charset="-122"/>
                <a:cs typeface="Noto Sans SC" panose="020B0200000000000000" charset="-122"/>
              </a:rPr>
              <a:t>50%</a:t>
            </a:r>
            <a:r>
              <a:rPr lang="zh-CN" altLang="en-US" sz="1600">
                <a:latin typeface="Noto Sans SC" panose="020B0200000000000000" charset="-122"/>
                <a:ea typeface="Noto Sans SC" panose="020B0200000000000000" charset="-122"/>
                <a:cs typeface="Noto Sans SC" panose="020B0200000000000000" charset="-122"/>
              </a:rPr>
              <a:t>，然后这里会统计检测到的各个种类缺陷的数量，在数量较多时可以点击其中一个缺陷分类查看其数量</a:t>
            </a:r>
          </a:p>
          <a:p>
            <a:pPr algn="l">
              <a:defRPr/>
            </a:pPr>
            <a:endParaRPr lang="zh-CN" altLang="en-US" sz="1600">
              <a:latin typeface="Noto Sans SC" panose="020B0200000000000000" charset="-122"/>
              <a:ea typeface="Noto Sans SC" panose="020B0200000000000000" charset="-122"/>
              <a:cs typeface="Noto Sans SC" panose="020B0200000000000000" charset="-122"/>
            </a:endParaRPr>
          </a:p>
          <a:p>
            <a:pPr algn="l">
              <a:defRPr/>
            </a:pPr>
            <a:r>
              <a:rPr lang="zh-CN" altLang="en-US" sz="1600">
                <a:latin typeface="Noto Sans SC" panose="020B0200000000000000" charset="-122"/>
                <a:ea typeface="Noto Sans SC" panose="020B0200000000000000" charset="-122"/>
                <a:cs typeface="Noto Sans SC" panose="020B0200000000000000" charset="-122"/>
              </a:rPr>
              <a:t>在实际应用中可以根据这些缺陷值的数量对后期的桥梁改造进行针对性的建造</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7945" y="0"/>
            <a:ext cx="1226058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8" name="AutoShape 5"/>
          <p:cNvSpPr/>
          <p:nvPr/>
        </p:nvSpPr>
        <p:spPr>
          <a:xfrm>
            <a:off x="664845" y="273685"/>
            <a:ext cx="341884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06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历史检测对比与标注图导出</a:t>
            </a:r>
          </a:p>
        </p:txBody>
      </p:sp>
      <p:pic>
        <p:nvPicPr>
          <p:cNvPr id="4" name="图片 3"/>
          <p:cNvPicPr>
            <a:picLocks noChangeAspect="1"/>
          </p:cNvPicPr>
          <p:nvPr/>
        </p:nvPicPr>
        <p:blipFill>
          <a:blip r:embed="rId4"/>
          <a:stretch>
            <a:fillRect/>
          </a:stretch>
        </p:blipFill>
        <p:spPr>
          <a:xfrm>
            <a:off x="664845" y="711835"/>
            <a:ext cx="4886960" cy="3493770"/>
          </a:xfrm>
          <a:prstGeom prst="rect">
            <a:avLst/>
          </a:prstGeom>
        </p:spPr>
      </p:pic>
      <p:sp>
        <p:nvSpPr>
          <p:cNvPr id="17" name="AutoShape 17"/>
          <p:cNvSpPr/>
          <p:nvPr/>
        </p:nvSpPr>
        <p:spPr>
          <a:xfrm>
            <a:off x="664845" y="4638040"/>
            <a:ext cx="4455160" cy="198945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sz="1600">
                <a:latin typeface="Noto Sans SC" panose="020B0200000000000000" charset="-122"/>
                <a:ea typeface="Noto Sans SC" panose="020B0200000000000000" charset="-122"/>
                <a:cs typeface="Noto Sans SC" panose="020B0200000000000000" charset="-122"/>
              </a:rPr>
              <a:t>通过快捷键</a:t>
            </a:r>
            <a:r>
              <a:rPr lang="en-US" altLang="zh-CN" sz="1600">
                <a:latin typeface="Noto Sans SC" panose="020B0200000000000000" charset="-122"/>
                <a:ea typeface="Noto Sans SC" panose="020B0200000000000000" charset="-122"/>
                <a:cs typeface="Noto Sans SC" panose="020B0200000000000000" charset="-122"/>
              </a:rPr>
              <a:t>Ctrl+H</a:t>
            </a:r>
            <a:r>
              <a:rPr lang="zh-CN" altLang="en-US" sz="1600">
                <a:latin typeface="Noto Sans SC" panose="020B0200000000000000" charset="-122"/>
                <a:ea typeface="Noto Sans SC" panose="020B0200000000000000" charset="-122"/>
                <a:cs typeface="Noto Sans SC" panose="020B0200000000000000" charset="-122"/>
              </a:rPr>
              <a:t>或在代码中调用_</a:t>
            </a:r>
            <a:r>
              <a:rPr lang="en-US" altLang="zh-CN" sz="1600">
                <a:latin typeface="Noto Sans SC" panose="020B0200000000000000" charset="-122"/>
                <a:ea typeface="Noto Sans SC" panose="020B0200000000000000" charset="-122"/>
                <a:cs typeface="Noto Sans SC" panose="020B0200000000000000" charset="-122"/>
              </a:rPr>
              <a:t>on_history_compare()</a:t>
            </a:r>
            <a:r>
              <a:rPr lang="zh-CN" altLang="en-US" sz="1600">
                <a:latin typeface="Noto Sans SC" panose="020B0200000000000000" charset="-122"/>
                <a:ea typeface="Noto Sans SC" panose="020B0200000000000000" charset="-122"/>
                <a:cs typeface="Noto Sans SC" panose="020B0200000000000000" charset="-122"/>
              </a:rPr>
              <a:t>可以进行历史检测记录的对比</a:t>
            </a:r>
          </a:p>
          <a:p>
            <a:pPr algn="l">
              <a:defRPr/>
            </a:pPr>
            <a:endParaRPr lang="zh-CN" altLang="en-US" sz="1600">
              <a:latin typeface="Noto Sans SC" panose="020B0200000000000000" charset="-122"/>
              <a:ea typeface="Noto Sans SC" panose="020B0200000000000000" charset="-122"/>
              <a:cs typeface="Noto Sans SC" panose="020B0200000000000000" charset="-122"/>
            </a:endParaRPr>
          </a:p>
          <a:p>
            <a:pPr algn="l">
              <a:defRPr/>
            </a:pPr>
            <a:r>
              <a:rPr lang="zh-CN" altLang="en-US" sz="1600">
                <a:latin typeface="Noto Sans SC" panose="020B0200000000000000" charset="-122"/>
                <a:ea typeface="Noto Sans SC" panose="020B0200000000000000" charset="-122"/>
                <a:cs typeface="Noto Sans SC" panose="020B0200000000000000" charset="-122"/>
              </a:rPr>
              <a:t>在实践中通过历史检测对比可以更加详细掌握桥梁缺陷的变化情况，为后续的针对性处理提供建议</a:t>
            </a:r>
          </a:p>
        </p:txBody>
      </p:sp>
      <p:pic>
        <p:nvPicPr>
          <p:cNvPr id="9" name="图片 8"/>
          <p:cNvPicPr>
            <a:picLocks noChangeAspect="1"/>
          </p:cNvPicPr>
          <p:nvPr/>
        </p:nvPicPr>
        <p:blipFill>
          <a:blip r:embed="rId5"/>
          <a:stretch>
            <a:fillRect/>
          </a:stretch>
        </p:blipFill>
        <p:spPr>
          <a:xfrm>
            <a:off x="6524625" y="711835"/>
            <a:ext cx="4413250" cy="3494405"/>
          </a:xfrm>
          <a:prstGeom prst="rect">
            <a:avLst/>
          </a:prstGeom>
        </p:spPr>
      </p:pic>
      <p:sp>
        <p:nvSpPr>
          <p:cNvPr id="14" name="AutoShape 17"/>
          <p:cNvSpPr/>
          <p:nvPr/>
        </p:nvSpPr>
        <p:spPr>
          <a:xfrm>
            <a:off x="6524625" y="4638040"/>
            <a:ext cx="4451350" cy="198183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l">
              <a:defRPr/>
            </a:pPr>
            <a:r>
              <a:rPr lang="zh-CN" sz="1600">
                <a:latin typeface="Noto Sans SC" panose="020B0200000000000000" charset="-122"/>
                <a:ea typeface="Noto Sans SC" panose="020B0200000000000000" charset="-122"/>
                <a:cs typeface="Noto Sans SC" panose="020B0200000000000000" charset="-122"/>
              </a:rPr>
              <a:t>该功能通过快捷键</a:t>
            </a:r>
            <a:r>
              <a:rPr lang="en-US" altLang="zh-CN" sz="1600">
                <a:latin typeface="Noto Sans SC" panose="020B0200000000000000" charset="-122"/>
                <a:ea typeface="Noto Sans SC" panose="020B0200000000000000" charset="-122"/>
                <a:cs typeface="Noto Sans SC" panose="020B0200000000000000" charset="-122"/>
              </a:rPr>
              <a:t>Ctrl+I</a:t>
            </a:r>
            <a:r>
              <a:rPr lang="zh-CN" altLang="en-US" sz="1600">
                <a:latin typeface="Noto Sans SC" panose="020B0200000000000000" charset="-122"/>
                <a:ea typeface="Noto Sans SC" panose="020B0200000000000000" charset="-122"/>
                <a:cs typeface="Noto Sans SC" panose="020B0200000000000000" charset="-122"/>
              </a:rPr>
              <a:t>调用，将识别过的图片进行导出并保存。在实践中用于后续桥梁的改造与分析</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7945" y="0"/>
            <a:ext cx="1226058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8" name="AutoShape 5"/>
          <p:cNvSpPr/>
          <p:nvPr/>
        </p:nvSpPr>
        <p:spPr>
          <a:xfrm>
            <a:off x="1475105" y="967740"/>
            <a:ext cx="2524125"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07 </a:t>
            </a:r>
            <a:r>
              <a:rPr lang="zh-CN" altLang="en-US" sz="20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其他快捷键功能</a:t>
            </a:r>
          </a:p>
        </p:txBody>
      </p:sp>
      <p:graphicFrame>
        <p:nvGraphicFramePr>
          <p:cNvPr id="4" name="表格 3"/>
          <p:cNvGraphicFramePr/>
          <p:nvPr/>
        </p:nvGraphicFramePr>
        <p:xfrm>
          <a:off x="3016250" y="2286000"/>
          <a:ext cx="5989320" cy="1908175"/>
        </p:xfrm>
        <a:graphic>
          <a:graphicData uri="http://schemas.openxmlformats.org/drawingml/2006/table">
            <a:tbl>
              <a:tblPr/>
              <a:tblGrid>
                <a:gridCol w="2994660">
                  <a:extLst>
                    <a:ext uri="{9D8B030D-6E8A-4147-A177-3AD203B41FA5}">
                      <a16:colId xmlns:a16="http://schemas.microsoft.com/office/drawing/2014/main" val="20000"/>
                    </a:ext>
                  </a:extLst>
                </a:gridCol>
                <a:gridCol w="2994660">
                  <a:extLst>
                    <a:ext uri="{9D8B030D-6E8A-4147-A177-3AD203B41FA5}">
                      <a16:colId xmlns:a16="http://schemas.microsoft.com/office/drawing/2014/main" val="20001"/>
                    </a:ext>
                  </a:extLst>
                </a:gridCol>
              </a:tblGrid>
              <a:tr h="381635">
                <a:tc>
                  <a:txBody>
                    <a:bodyPr/>
                    <a:lstStyle/>
                    <a:p>
                      <a:pPr>
                        <a:lnSpc>
                          <a:spcPct val="114000"/>
                        </a:lnSpc>
                        <a:spcBef>
                          <a:spcPct val="0"/>
                        </a:spcBef>
                        <a:spcAft>
                          <a:spcPct val="0"/>
                        </a:spcAft>
                      </a:pPr>
                      <a:r>
                        <a:rPr lang="en-US" altLang="zh-CN" sz="1600">
                          <a:latin typeface="微软雅黑" panose="020B0503020204020204" charset="-122"/>
                          <a:ea typeface="微软雅黑" panose="020B0503020204020204" charset="-122"/>
                        </a:rPr>
                        <a:t>`Ctrl + O`</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600">
                          <a:latin typeface="微软雅黑" panose="020B0503020204020204" charset="-122"/>
                          <a:ea typeface="微软雅黑" panose="020B0503020204020204" charset="-122"/>
                        </a:rPr>
                        <a:t>打开图片</a:t>
                      </a:r>
                      <a:r>
                        <a:rPr lang="zh-CN" altLang="en-US" sz="1600">
                          <a:latin typeface="微软雅黑" panose="020B0503020204020204" charset="-122"/>
                          <a:ea typeface="微软雅黑" panose="020B0503020204020204" charset="-122"/>
                        </a:rPr>
                        <a:t> </a:t>
                      </a:r>
                      <a:r>
                        <a:rPr lang="en-US" altLang="zh-CN" sz="1600">
                          <a:latin typeface="微软雅黑" panose="020B0503020204020204" charset="-122"/>
                          <a:ea typeface="微软雅黑" panose="020B0503020204020204" charset="-122"/>
                        </a:rPr>
                        <a:t>→ </a:t>
                      </a:r>
                      <a:r>
                        <a:rPr lang="zh-CN" altLang="en-US" sz="1600">
                          <a:latin typeface="微软雅黑" panose="020B0503020204020204" charset="-122"/>
                          <a:ea typeface="微软雅黑" panose="020B0503020204020204" charset="-122"/>
                        </a:rPr>
                        <a:t>单张检测</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381635">
                <a:tc>
                  <a:txBody>
                    <a:bodyPr/>
                    <a:lstStyle/>
                    <a:p>
                      <a:pPr>
                        <a:lnSpc>
                          <a:spcPct val="114000"/>
                        </a:lnSpc>
                        <a:spcBef>
                          <a:spcPct val="0"/>
                        </a:spcBef>
                        <a:spcAft>
                          <a:spcPct val="0"/>
                        </a:spcAft>
                      </a:pPr>
                      <a:r>
                        <a:rPr lang="en-US" altLang="zh-CN" sz="1600">
                          <a:latin typeface="微软雅黑" panose="020B0503020204020204" charset="-122"/>
                          <a:ea typeface="微软雅黑" panose="020B0503020204020204" charset="-122"/>
                        </a:rPr>
                        <a:t>`Ctrl + B`</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1600">
                          <a:latin typeface="微软雅黑" panose="020B0503020204020204" charset="-122"/>
                          <a:ea typeface="微软雅黑" panose="020B0503020204020204" charset="-122"/>
                        </a:rPr>
                        <a:t>选择文件夹</a:t>
                      </a:r>
                      <a:r>
                        <a:rPr lang="zh-CN" altLang="en-US" sz="1600">
                          <a:latin typeface="微软雅黑" panose="020B0503020204020204" charset="-122"/>
                          <a:ea typeface="微软雅黑" panose="020B0503020204020204" charset="-122"/>
                        </a:rPr>
                        <a:t> </a:t>
                      </a:r>
                      <a:r>
                        <a:rPr lang="en-US" altLang="zh-CN" sz="1600">
                          <a:latin typeface="微软雅黑" panose="020B0503020204020204" charset="-122"/>
                          <a:ea typeface="微软雅黑" panose="020B0503020204020204" charset="-122"/>
                        </a:rPr>
                        <a:t>→ </a:t>
                      </a:r>
                      <a:r>
                        <a:rPr lang="zh-CN" altLang="en-US" sz="1600">
                          <a:latin typeface="微软雅黑" panose="020B0503020204020204" charset="-122"/>
                          <a:ea typeface="微软雅黑" panose="020B0503020204020204" charset="-122"/>
                        </a:rPr>
                        <a:t>批量检测</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1"/>
                  </a:ext>
                </a:extLst>
              </a:tr>
              <a:tr h="381635">
                <a:tc>
                  <a:txBody>
                    <a:bodyPr/>
                    <a:lstStyle/>
                    <a:p>
                      <a:pPr>
                        <a:lnSpc>
                          <a:spcPct val="114000"/>
                        </a:lnSpc>
                        <a:spcBef>
                          <a:spcPct val="0"/>
                        </a:spcBef>
                        <a:spcAft>
                          <a:spcPct val="0"/>
                        </a:spcAft>
                      </a:pPr>
                      <a:r>
                        <a:rPr lang="en-US" altLang="zh-CN" sz="1600">
                          <a:latin typeface="微软雅黑" panose="020B0503020204020204" charset="-122"/>
                          <a:ea typeface="微软雅黑" panose="020B0503020204020204" charset="-122"/>
                        </a:rPr>
                        <a:t>`Ctrl + 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600">
                          <a:latin typeface="微软雅黑" panose="020B0503020204020204" charset="-122"/>
                          <a:ea typeface="微软雅黑" panose="020B0503020204020204" charset="-122"/>
                        </a:rPr>
                        <a:t>导出检测报告</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381635">
                <a:tc>
                  <a:txBody>
                    <a:bodyPr/>
                    <a:lstStyle/>
                    <a:p>
                      <a:pPr>
                        <a:lnSpc>
                          <a:spcPct val="114000"/>
                        </a:lnSpc>
                        <a:spcBef>
                          <a:spcPct val="0"/>
                        </a:spcBef>
                        <a:spcAft>
                          <a:spcPct val="0"/>
                        </a:spcAft>
                      </a:pPr>
                      <a:r>
                        <a:rPr lang="en-US" altLang="zh-CN" sz="1600">
                          <a:latin typeface="微软雅黑" panose="020B0503020204020204" charset="-122"/>
                          <a:ea typeface="微软雅黑" panose="020B0503020204020204" charset="-122"/>
                        </a:rPr>
                        <a:t>`Ctrl + H`</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1600">
                          <a:latin typeface="微软雅黑" panose="020B0503020204020204" charset="-122"/>
                          <a:ea typeface="微软雅黑" panose="020B0503020204020204" charset="-122"/>
                        </a:rPr>
                        <a:t>历史检测对比</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3"/>
                  </a:ext>
                </a:extLst>
              </a:tr>
              <a:tr h="381635">
                <a:tc>
                  <a:txBody>
                    <a:bodyPr/>
                    <a:lstStyle/>
                    <a:p>
                      <a:pPr>
                        <a:lnSpc>
                          <a:spcPct val="114000"/>
                        </a:lnSpc>
                        <a:spcBef>
                          <a:spcPct val="0"/>
                        </a:spcBef>
                        <a:spcAft>
                          <a:spcPct val="0"/>
                        </a:spcAft>
                      </a:pPr>
                      <a:r>
                        <a:rPr lang="en-US" altLang="zh-CN" sz="1600">
                          <a:latin typeface="微软雅黑" panose="020B0503020204020204" charset="-122"/>
                          <a:ea typeface="微软雅黑" panose="020B0503020204020204" charset="-122"/>
                        </a:rPr>
                        <a:t>`Ctrl + I`</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600">
                          <a:latin typeface="微软雅黑" panose="020B0503020204020204" charset="-122"/>
                          <a:ea typeface="微软雅黑" panose="020B0503020204020204" charset="-122"/>
                        </a:rPr>
                        <a:t>导出带标注框的图片</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详细设计</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15950" y="995045"/>
            <a:ext cx="7440295"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包含系统概述、系统架构、模块详细设计、数据设计、软件接口说明、</a:t>
            </a:r>
            <a:r>
              <a:rPr lang="en-US" altLang="zh-CN"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UI</a:t>
            </a: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界面设计、错误处理与异常恢复</a:t>
            </a: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7" name="对象 6">
            <a:hlinkClick r:id="" action="ppaction://ole?verb=0"/>
          </p:cNvPr>
          <p:cNvGraphicFramePr>
            <a:graphicFrameLocks noChangeAspect="1"/>
          </p:cNvGraphicFramePr>
          <p:nvPr/>
        </p:nvGraphicFramePr>
        <p:xfrm>
          <a:off x="7486015" y="3788410"/>
          <a:ext cx="971550" cy="952500"/>
        </p:xfrm>
        <a:graphic>
          <a:graphicData uri="http://schemas.openxmlformats.org/presentationml/2006/ole">
            <mc:AlternateContent xmlns:mc="http://schemas.openxmlformats.org/markup-compatibility/2006">
              <mc:Choice xmlns:v="urn:schemas-microsoft-com:vml" Requires="v">
                <p:oleObj showAsIcon="1" r:id="rId4" imgW="971550" imgH="952500" progId="Word.Document.12">
                  <p:embed/>
                </p:oleObj>
              </mc:Choice>
              <mc:Fallback>
                <p:oleObj showAsIcon="1" r:id="rId4" imgW="971550" imgH="952500" progId="Word.Document.12">
                  <p:embed/>
                  <p:pic>
                    <p:nvPicPr>
                      <p:cNvPr id="0" name="图片 1024"/>
                      <p:cNvPicPr/>
                      <p:nvPr/>
                    </p:nvPicPr>
                    <p:blipFill>
                      <a:blip r:embed="rId5"/>
                      <a:stretch>
                        <a:fillRect/>
                      </a:stretch>
                    </p:blipFill>
                    <p:spPr>
                      <a:xfrm>
                        <a:off x="7486015" y="3788410"/>
                        <a:ext cx="971550" cy="952500"/>
                      </a:xfrm>
                      <a:prstGeom prst="rect">
                        <a:avLst/>
                      </a:prstGeom>
                    </p:spPr>
                  </p:pic>
                </p:oleObj>
              </mc:Fallback>
            </mc:AlternateContent>
          </a:graphicData>
        </a:graphic>
      </p:graphicFrame>
      <p:sp>
        <p:nvSpPr>
          <p:cNvPr id="8" name="AutoShape 4"/>
          <p:cNvSpPr/>
          <p:nvPr/>
        </p:nvSpPr>
        <p:spPr>
          <a:xfrm>
            <a:off x="1327150" y="2780030"/>
            <a:ext cx="3596640" cy="16294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由于该内容较多，为体现其完整性与逻辑性，这里用附件打开</a:t>
            </a:r>
          </a:p>
        </p:txBody>
      </p:sp>
      <p:cxnSp>
        <p:nvCxnSpPr>
          <p:cNvPr id="10" name="直接箭头连接符 9"/>
          <p:cNvCxnSpPr>
            <a:stCxn id="8" idx="3"/>
            <a:endCxn id="9" idx="1"/>
          </p:cNvCxnSpPr>
          <p:nvPr/>
        </p:nvCxnSpPr>
        <p:spPr>
          <a:xfrm>
            <a:off x="4923790" y="3594735"/>
            <a:ext cx="25241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软件实现</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4"/>
          <p:cNvSpPr/>
          <p:nvPr/>
        </p:nvSpPr>
        <p:spPr>
          <a:xfrm>
            <a:off x="615950" y="995045"/>
            <a:ext cx="7440295"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包含产品简介、功能一览、功能详细说明、检测能力说明、操作流程指南等，为保证其完整性与逻辑性，这里用附件打开</a:t>
            </a:r>
          </a:p>
        </p:txBody>
      </p:sp>
      <p:graphicFrame>
        <p:nvGraphicFramePr>
          <p:cNvPr id="8" name="对象 7">
            <a:hlinkClick r:id="" action="ppaction://ole?verb=0"/>
          </p:cNvPr>
          <p:cNvGraphicFramePr>
            <a:graphicFrameLocks noChangeAspect="1"/>
          </p:cNvGraphicFramePr>
          <p:nvPr/>
        </p:nvGraphicFramePr>
        <p:xfrm>
          <a:off x="1809750" y="3653155"/>
          <a:ext cx="971550" cy="952500"/>
        </p:xfrm>
        <a:graphic>
          <a:graphicData uri="http://schemas.openxmlformats.org/presentationml/2006/ole">
            <mc:AlternateContent xmlns:mc="http://schemas.openxmlformats.org/markup-compatibility/2006">
              <mc:Choice xmlns:v="urn:schemas-microsoft-com:vml" Requires="v">
                <p:oleObj showAsIcon="1" r:id="rId4" imgW="971550" imgH="952500" progId="Word.Document.12">
                  <p:embed/>
                </p:oleObj>
              </mc:Choice>
              <mc:Fallback>
                <p:oleObj showAsIcon="1" r:id="rId4" imgW="971550" imgH="952500" progId="Word.Document.12">
                  <p:embed/>
                  <p:pic>
                    <p:nvPicPr>
                      <p:cNvPr id="0" name="图片 2048"/>
                      <p:cNvPicPr/>
                      <p:nvPr/>
                    </p:nvPicPr>
                    <p:blipFill>
                      <a:blip r:embed="rId5"/>
                      <a:stretch>
                        <a:fillRect/>
                      </a:stretch>
                    </p:blipFill>
                    <p:spPr>
                      <a:xfrm>
                        <a:off x="1809750" y="3653155"/>
                        <a:ext cx="971550" cy="95250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4702810" y="3653155"/>
          <a:ext cx="971550" cy="952500"/>
        </p:xfrm>
        <a:graphic>
          <a:graphicData uri="http://schemas.openxmlformats.org/presentationml/2006/ole">
            <mc:AlternateContent xmlns:mc="http://schemas.openxmlformats.org/markup-compatibility/2006">
              <mc:Choice xmlns:v="urn:schemas-microsoft-com:vml" Requires="v">
                <p:oleObj showAsIcon="1" r:id="rId6" imgW="971550" imgH="952500" progId="Word.Document.12">
                  <p:embed/>
                </p:oleObj>
              </mc:Choice>
              <mc:Fallback>
                <p:oleObj showAsIcon="1" r:id="rId6" imgW="971550" imgH="952500" progId="Word.Document.12">
                  <p:embed/>
                  <p:pic>
                    <p:nvPicPr>
                      <p:cNvPr id="0" name="图片 2049"/>
                      <p:cNvPicPr/>
                      <p:nvPr/>
                    </p:nvPicPr>
                    <p:blipFill>
                      <a:blip r:embed="rId7"/>
                      <a:stretch>
                        <a:fillRect/>
                      </a:stretch>
                    </p:blipFill>
                    <p:spPr>
                      <a:xfrm>
                        <a:off x="4702810" y="3653155"/>
                        <a:ext cx="971550" cy="952500"/>
                      </a:xfrm>
                      <a:prstGeom prst="rect">
                        <a:avLst/>
                      </a:prstGeom>
                    </p:spPr>
                  </p:pic>
                </p:oleObj>
              </mc:Fallback>
            </mc:AlternateContent>
          </a:graphicData>
        </a:graphic>
      </p:graphicFrame>
      <p:sp>
        <p:nvSpPr>
          <p:cNvPr id="10" name="矩形 9"/>
          <p:cNvSpPr/>
          <p:nvPr/>
        </p:nvSpPr>
        <p:spPr>
          <a:xfrm>
            <a:off x="1753235" y="3513455"/>
            <a:ext cx="1144905" cy="121856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nvSpPr>
        <p:spPr>
          <a:xfrm>
            <a:off x="4615815" y="3513455"/>
            <a:ext cx="1144905" cy="121856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3" name="直接箭头连接符 12"/>
          <p:cNvCxnSpPr>
            <a:stCxn id="7" idx="2"/>
            <a:endCxn id="10" idx="0"/>
          </p:cNvCxnSpPr>
          <p:nvPr/>
        </p:nvCxnSpPr>
        <p:spPr>
          <a:xfrm flipH="1">
            <a:off x="2326005" y="2138045"/>
            <a:ext cx="2010410" cy="13754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endCxn id="11" idx="0"/>
          </p:cNvCxnSpPr>
          <p:nvPr/>
        </p:nvCxnSpPr>
        <p:spPr>
          <a:xfrm>
            <a:off x="4335780" y="2137410"/>
            <a:ext cx="852805" cy="13760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产品单元模块测试</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480185" y="1268730"/>
            <a:ext cx="865124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单元模块测试报告，同时包含测试用例明细表</a:t>
            </a:r>
          </a:p>
        </p:txBody>
      </p:sp>
      <p:graphicFrame>
        <p:nvGraphicFramePr>
          <p:cNvPr id="7" name="对象 6">
            <a:hlinkClick r:id="" action="ppaction://ole?verb=0"/>
          </p:cNvPr>
          <p:cNvGraphicFramePr>
            <a:graphicFrameLocks noChangeAspect="1"/>
          </p:cNvGraphicFramePr>
          <p:nvPr/>
        </p:nvGraphicFramePr>
        <p:xfrm>
          <a:off x="3210560" y="3429000"/>
          <a:ext cx="971550" cy="952500"/>
        </p:xfrm>
        <a:graphic>
          <a:graphicData uri="http://schemas.openxmlformats.org/presentationml/2006/ole">
            <mc:AlternateContent xmlns:mc="http://schemas.openxmlformats.org/markup-compatibility/2006">
              <mc:Choice xmlns:v="urn:schemas-microsoft-com:vml" Requires="v">
                <p:oleObj showAsIcon="1" r:id="rId4" imgW="971550" imgH="952500" progId="Package">
                  <p:embed/>
                </p:oleObj>
              </mc:Choice>
              <mc:Fallback>
                <p:oleObj showAsIcon="1" r:id="rId4" imgW="971550" imgH="952500" progId="Package">
                  <p:embed/>
                  <p:pic>
                    <p:nvPicPr>
                      <p:cNvPr id="0" name="图片 3072"/>
                      <p:cNvPicPr/>
                      <p:nvPr/>
                    </p:nvPicPr>
                    <p:blipFill>
                      <a:blip r:embed="rId5"/>
                      <a:stretch>
                        <a:fillRect/>
                      </a:stretch>
                    </p:blipFill>
                    <p:spPr>
                      <a:xfrm>
                        <a:off x="3210560" y="3429000"/>
                        <a:ext cx="971550" cy="952500"/>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5811520" y="3342640"/>
          <a:ext cx="971550" cy="952500"/>
        </p:xfrm>
        <a:graphic>
          <a:graphicData uri="http://schemas.openxmlformats.org/presentationml/2006/ole">
            <mc:AlternateContent xmlns:mc="http://schemas.openxmlformats.org/markup-compatibility/2006">
              <mc:Choice xmlns:v="urn:schemas-microsoft-com:vml" Requires="v">
                <p:oleObj showAsIcon="1" r:id="rId6" imgW="971550" imgH="952500" progId="Excel.Sheet.12">
                  <p:embed/>
                </p:oleObj>
              </mc:Choice>
              <mc:Fallback>
                <p:oleObj showAsIcon="1" r:id="rId6" imgW="971550" imgH="952500" progId="Excel.Sheet.12">
                  <p:embed/>
                  <p:pic>
                    <p:nvPicPr>
                      <p:cNvPr id="0" name="图片 3073"/>
                      <p:cNvPicPr/>
                      <p:nvPr/>
                    </p:nvPicPr>
                    <p:blipFill>
                      <a:blip r:embed="rId7"/>
                      <a:stretch>
                        <a:fillRect/>
                      </a:stretch>
                    </p:blipFill>
                    <p:spPr>
                      <a:xfrm>
                        <a:off x="5811520" y="3342640"/>
                        <a:ext cx="971550" cy="952500"/>
                      </a:xfrm>
                      <a:prstGeom prst="rect">
                        <a:avLst/>
                      </a:prstGeom>
                    </p:spPr>
                  </p:pic>
                </p:oleObj>
              </mc:Fallback>
            </mc:AlternateContent>
          </a:graphicData>
        </a:graphic>
      </p:graphicFrame>
      <p:cxnSp>
        <p:nvCxnSpPr>
          <p:cNvPr id="11" name="直接箭头连接符 10"/>
          <p:cNvCxnSpPr>
            <a:stCxn id="4" idx="2"/>
            <a:endCxn id="9" idx="0"/>
          </p:cNvCxnSpPr>
          <p:nvPr/>
        </p:nvCxnSpPr>
        <p:spPr>
          <a:xfrm flipH="1">
            <a:off x="3726815" y="2030730"/>
            <a:ext cx="2078990" cy="12026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 idx="2"/>
            <a:endCxn id="10" idx="0"/>
          </p:cNvCxnSpPr>
          <p:nvPr/>
        </p:nvCxnSpPr>
        <p:spPr>
          <a:xfrm>
            <a:off x="5805805" y="2030730"/>
            <a:ext cx="491490" cy="12026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产品总体测试</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151890" y="647065"/>
            <a:ext cx="6301105" cy="16389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除了对产品的基本功能与模型训练的测试，我们还对其他的详细信息进行了统计与分析，总结成表</a:t>
            </a: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7" name="对象 6">
            <a:hlinkClick r:id="" action="ppaction://ole?verb=0"/>
          </p:cNvPr>
          <p:cNvGraphicFramePr>
            <a:graphicFrameLocks noChangeAspect="1"/>
          </p:cNvGraphicFramePr>
          <p:nvPr/>
        </p:nvGraphicFramePr>
        <p:xfrm>
          <a:off x="3966210" y="3385185"/>
          <a:ext cx="971550" cy="952500"/>
        </p:xfrm>
        <a:graphic>
          <a:graphicData uri="http://schemas.openxmlformats.org/presentationml/2006/ole">
            <mc:AlternateContent xmlns:mc="http://schemas.openxmlformats.org/markup-compatibility/2006">
              <mc:Choice xmlns:v="urn:schemas-microsoft-com:vml" Requires="v">
                <p:oleObj showAsIcon="1" r:id="rId4" imgW="971550" imgH="952500" progId="Package">
                  <p:embed/>
                </p:oleObj>
              </mc:Choice>
              <mc:Fallback>
                <p:oleObj showAsIcon="1" r:id="rId4" imgW="971550" imgH="952500" progId="Package">
                  <p:embed/>
                  <p:pic>
                    <p:nvPicPr>
                      <p:cNvPr id="0" name="图片 4096"/>
                      <p:cNvPicPr/>
                      <p:nvPr/>
                    </p:nvPicPr>
                    <p:blipFill>
                      <a:blip r:embed="rId5"/>
                      <a:stretch>
                        <a:fillRect/>
                      </a:stretch>
                    </p:blipFill>
                    <p:spPr>
                      <a:xfrm>
                        <a:off x="3966210" y="3385185"/>
                        <a:ext cx="971550" cy="952500"/>
                      </a:xfrm>
                      <a:prstGeom prst="rect">
                        <a:avLst/>
                      </a:prstGeom>
                    </p:spPr>
                  </p:pic>
                </p:oleObj>
              </mc:Fallback>
            </mc:AlternateContent>
          </a:graphicData>
        </a:graphic>
      </p:graphicFrame>
      <p:cxnSp>
        <p:nvCxnSpPr>
          <p:cNvPr id="9" name="直接箭头连接符 8"/>
          <p:cNvCxnSpPr/>
          <p:nvPr/>
        </p:nvCxnSpPr>
        <p:spPr>
          <a:xfrm>
            <a:off x="4302760" y="2170430"/>
            <a:ext cx="191135" cy="10693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874000" y="1524000"/>
            <a:ext cx="381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0" b="1" i="0" u="none" strike="noStrike">
                <a:solidFill>
                  <a:srgbClr val="4F46E5">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产品发布</a:t>
            </a:r>
          </a:p>
        </p:txBody>
      </p:sp>
      <p:sp>
        <p:nvSpPr>
          <p:cNvPr id="5" name="AutoShape 5"/>
          <p:cNvSpPr/>
          <p:nvPr/>
        </p:nvSpPr>
        <p:spPr>
          <a:xfrm>
            <a:off x="762000" y="3556000"/>
            <a:ext cx="1016000" cy="762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191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70915" y="461645"/>
            <a:ext cx="1946910" cy="83248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2400">
                <a:latin typeface="Noto Sans SC" panose="020B0200000000000000" charset="-122"/>
                <a:ea typeface="Noto Sans SC" panose="020B0200000000000000" charset="-122"/>
                <a:cs typeface="Noto Sans SC" panose="020B0200000000000000" charset="-122"/>
              </a:rPr>
              <a:t>部署说明</a:t>
            </a:r>
          </a:p>
        </p:txBody>
      </p:sp>
      <p:sp>
        <p:nvSpPr>
          <p:cNvPr id="7" name="AutoShape 4"/>
          <p:cNvSpPr/>
          <p:nvPr/>
        </p:nvSpPr>
        <p:spPr>
          <a:xfrm>
            <a:off x="784860" y="1359535"/>
            <a:ext cx="5207000" cy="1688465"/>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8" name="AutoShape 5"/>
          <p:cNvSpPr/>
          <p:nvPr/>
        </p:nvSpPr>
        <p:spPr>
          <a:xfrm>
            <a:off x="784860" y="1359535"/>
            <a:ext cx="76200" cy="168783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6"/>
          <p:cNvSpPr/>
          <p:nvPr/>
        </p:nvSpPr>
        <p:spPr>
          <a:xfrm>
            <a:off x="1038860" y="148653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环境要求</a:t>
            </a:r>
          </a:p>
        </p:txBody>
      </p:sp>
      <p:cxnSp>
        <p:nvCxnSpPr>
          <p:cNvPr id="10" name="Connector 7"/>
          <p:cNvCxnSpPr/>
          <p:nvPr/>
        </p:nvCxnSpPr>
        <p:spPr>
          <a:xfrm rot="-9291">
            <a:off x="1038869" y="1988185"/>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1" name="AutoShape 8"/>
          <p:cNvSpPr/>
          <p:nvPr/>
        </p:nvSpPr>
        <p:spPr>
          <a:xfrm>
            <a:off x="993775" y="1981835"/>
            <a:ext cx="483489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&gt;= 3.8</a:t>
            </a:r>
          </a:p>
          <a:p>
            <a:pPr marL="0" indent="0" algn="l">
              <a:lnSpc>
                <a:spcPct val="100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操作系统: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Windows 10/11 (Linux/Mac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需修改字体路径)</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GPU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可选):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NVIDIA CUDA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兼容显卡，用于加速训练</a:t>
            </a:r>
          </a:p>
        </p:txBody>
      </p:sp>
      <p:sp>
        <p:nvSpPr>
          <p:cNvPr id="14" name="AutoShape 4"/>
          <p:cNvSpPr/>
          <p:nvPr/>
        </p:nvSpPr>
        <p:spPr>
          <a:xfrm>
            <a:off x="765810" y="3397250"/>
            <a:ext cx="5207000" cy="3015615"/>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15" name="AutoShape 5"/>
          <p:cNvSpPr/>
          <p:nvPr/>
        </p:nvSpPr>
        <p:spPr>
          <a:xfrm>
            <a:off x="765810" y="3397250"/>
            <a:ext cx="76200" cy="301498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6"/>
          <p:cNvSpPr/>
          <p:nvPr/>
        </p:nvSpPr>
        <p:spPr>
          <a:xfrm>
            <a:off x="1019810" y="352425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依赖安装</a:t>
            </a:r>
          </a:p>
        </p:txBody>
      </p:sp>
      <p:cxnSp>
        <p:nvCxnSpPr>
          <p:cNvPr id="18" name="Connector 7"/>
          <p:cNvCxnSpPr/>
          <p:nvPr/>
        </p:nvCxnSpPr>
        <p:spPr>
          <a:xfrm rot="-9291">
            <a:off x="1019819" y="402590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9" name="AutoShape 8"/>
          <p:cNvSpPr/>
          <p:nvPr/>
        </p:nvSpPr>
        <p:spPr>
          <a:xfrm>
            <a:off x="974725" y="4019550"/>
            <a:ext cx="4834890" cy="232029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pip install -r requirements.txt</a:t>
            </a:r>
          </a:p>
          <a:p>
            <a:pPr marL="0" indent="0" algn="l">
              <a:lnSpc>
                <a:spcPct val="100000"/>
              </a:lnSpc>
            </a:pP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依赖清单：</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ultralytics&gt;=8.0.0              # YOLOv8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目标检测框架</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opencv-python&gt;=4.6.0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图像处理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cv2)</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Pillow&gt;=9.0.0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中文标注绘制</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numpy&gt;=1.21.0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数组计算</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PyQt5&gt;=5.15.0                   # GUI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matplotlib&gt;=3.5.0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训练可视化</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PyYAML&gt;=6.0                     # YAML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配置解析</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openpyxl&gt;=3.0.0              # Excel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报告导出</a:t>
            </a:r>
          </a:p>
        </p:txBody>
      </p:sp>
      <p:sp>
        <p:nvSpPr>
          <p:cNvPr id="21" name="AutoShape 4"/>
          <p:cNvSpPr/>
          <p:nvPr/>
        </p:nvSpPr>
        <p:spPr>
          <a:xfrm>
            <a:off x="6509385" y="1359535"/>
            <a:ext cx="5207000" cy="1688465"/>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22" name="AutoShape 5"/>
          <p:cNvSpPr/>
          <p:nvPr/>
        </p:nvSpPr>
        <p:spPr>
          <a:xfrm>
            <a:off x="6509385" y="1359535"/>
            <a:ext cx="76200" cy="168783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6"/>
          <p:cNvSpPr/>
          <p:nvPr/>
        </p:nvSpPr>
        <p:spPr>
          <a:xfrm>
            <a:off x="6763385" y="148653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目录初始化</a:t>
            </a:r>
          </a:p>
        </p:txBody>
      </p:sp>
      <p:cxnSp>
        <p:nvCxnSpPr>
          <p:cNvPr id="24" name="Connector 7"/>
          <p:cNvCxnSpPr/>
          <p:nvPr/>
        </p:nvCxnSpPr>
        <p:spPr>
          <a:xfrm rot="-9291">
            <a:off x="6763394" y="1988185"/>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5" name="AutoShape 8"/>
          <p:cNvSpPr/>
          <p:nvPr/>
        </p:nvSpPr>
        <p:spPr>
          <a:xfrm>
            <a:off x="6718300" y="1981835"/>
            <a:ext cx="483489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00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系统在首次运行时自动创建以下目录：</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detect_results/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检测结果图片</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detect_dataset/bridge_crack/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数据准备输出</a:t>
            </a:r>
          </a:p>
          <a:p>
            <a:pPr marL="0" indent="0" algn="l">
              <a:lnSpc>
                <a:spcPct val="100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runs/detect/train*/ —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训练产物（由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Ultralytics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自动创建）</a:t>
            </a:r>
          </a:p>
        </p:txBody>
      </p:sp>
      <p:sp>
        <p:nvSpPr>
          <p:cNvPr id="26" name="AutoShape 4"/>
          <p:cNvSpPr/>
          <p:nvPr/>
        </p:nvSpPr>
        <p:spPr>
          <a:xfrm>
            <a:off x="6509385" y="3417570"/>
            <a:ext cx="5207000" cy="1688465"/>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27" name="AutoShape 5"/>
          <p:cNvSpPr/>
          <p:nvPr/>
        </p:nvSpPr>
        <p:spPr>
          <a:xfrm>
            <a:off x="6509385" y="3417570"/>
            <a:ext cx="76200" cy="168783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6"/>
          <p:cNvSpPr/>
          <p:nvPr/>
        </p:nvSpPr>
        <p:spPr>
          <a:xfrm>
            <a:off x="6763385" y="354457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启动命令</a:t>
            </a:r>
          </a:p>
        </p:txBody>
      </p:sp>
      <p:cxnSp>
        <p:nvCxnSpPr>
          <p:cNvPr id="29" name="Connector 7"/>
          <p:cNvCxnSpPr/>
          <p:nvPr/>
        </p:nvCxnSpPr>
        <p:spPr>
          <a:xfrm rot="-9291">
            <a:off x="6763394" y="4046220"/>
            <a:ext cx="469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0" name="AutoShape 8"/>
          <p:cNvSpPr/>
          <p:nvPr/>
        </p:nvSpPr>
        <p:spPr>
          <a:xfrm>
            <a:off x="6718300" y="4039870"/>
            <a:ext cx="483489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图形界面模式</a:t>
            </a:r>
          </a:p>
          <a:p>
            <a:pPr marL="0" indent="0" algn="l">
              <a:lnSpc>
                <a:spcPct val="125000"/>
              </a:lnSpc>
              <a:defRPr/>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xinapp.py</a:t>
            </a: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数据准备模式（命令行）</a:t>
            </a:r>
          </a:p>
          <a:p>
            <a:pPr marL="0" indent="0" algn="l">
              <a:lnSpc>
                <a:spcPct val="125000"/>
              </a:lnSpc>
              <a:defRPr/>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prepare_data.py</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195" y="-12700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286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70915" y="461645"/>
            <a:ext cx="1946910" cy="83248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2400">
                <a:latin typeface="Noto Sans SC" panose="020B0200000000000000" charset="-122"/>
                <a:ea typeface="Noto Sans SC" panose="020B0200000000000000" charset="-122"/>
                <a:cs typeface="Noto Sans SC" panose="020B0200000000000000" charset="-122"/>
              </a:rPr>
              <a:t>部署说明</a:t>
            </a:r>
          </a:p>
        </p:txBody>
      </p:sp>
      <p:sp>
        <p:nvSpPr>
          <p:cNvPr id="7" name="AutoShape 4"/>
          <p:cNvSpPr/>
          <p:nvPr/>
        </p:nvSpPr>
        <p:spPr>
          <a:xfrm>
            <a:off x="784860" y="1360170"/>
            <a:ext cx="4494530" cy="3150235"/>
          </a:xfrm>
          <a:prstGeom prst="roundRect">
            <a:avLst>
              <a:gd name="adj" fmla="val 0"/>
            </a:avLst>
          </a:prstGeom>
          <a:solidFill>
            <a:srgbClr val="FFFFFF">
              <a:alpha val="65000"/>
            </a:srgbClr>
          </a:solidFill>
          <a:ln w="12700" cap="flat" cmpd="sng">
            <a:solidFill>
              <a:srgbClr val="4F46E5">
                <a:alpha val="20000"/>
              </a:srgbClr>
            </a:solidFill>
            <a:prstDash val="solid"/>
            <a:round/>
          </a:ln>
        </p:spPr>
        <p:txBody>
          <a:bodyPr vert="horz" wrap="square" lIns="63500" tIns="63500" rIns="63500" bIns="63500" rtlCol="0" anchor="ctr"/>
          <a:lstStyle/>
          <a:p>
            <a:pPr algn="ctr">
              <a:defRPr/>
            </a:pPr>
            <a:endParaRPr/>
          </a:p>
        </p:txBody>
      </p:sp>
      <p:sp>
        <p:nvSpPr>
          <p:cNvPr id="8" name="AutoShape 5"/>
          <p:cNvSpPr/>
          <p:nvPr/>
        </p:nvSpPr>
        <p:spPr>
          <a:xfrm>
            <a:off x="784860" y="1359535"/>
            <a:ext cx="76200" cy="315087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6"/>
          <p:cNvSpPr/>
          <p:nvPr/>
        </p:nvSpPr>
        <p:spPr>
          <a:xfrm>
            <a:off x="1038860" y="148653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zh-CN" altLang="en-US" sz="18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模型文件</a:t>
            </a:r>
          </a:p>
        </p:txBody>
      </p:sp>
      <p:cxnSp>
        <p:nvCxnSpPr>
          <p:cNvPr id="10" name="Connector 7"/>
          <p:cNvCxnSpPr/>
          <p:nvPr/>
        </p:nvCxnSpPr>
        <p:spPr>
          <a:xfrm flipV="1">
            <a:off x="861060" y="1991226"/>
            <a:ext cx="4278637" cy="3309"/>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graphicFrame>
        <p:nvGraphicFramePr>
          <p:cNvPr id="3" name="表格 2"/>
          <p:cNvGraphicFramePr/>
          <p:nvPr>
            <p:custDataLst>
              <p:tags r:id="rId1"/>
            </p:custDataLst>
          </p:nvPr>
        </p:nvGraphicFramePr>
        <p:xfrm>
          <a:off x="1038860" y="2121535"/>
          <a:ext cx="4118610" cy="2032000"/>
        </p:xfrm>
        <a:graphic>
          <a:graphicData uri="http://schemas.openxmlformats.org/drawingml/2006/table">
            <a:tbl>
              <a:tblPr/>
              <a:tblGrid>
                <a:gridCol w="1372870">
                  <a:extLst>
                    <a:ext uri="{9D8B030D-6E8A-4147-A177-3AD203B41FA5}">
                      <a16:colId xmlns:a16="http://schemas.microsoft.com/office/drawing/2014/main" val="20000"/>
                    </a:ext>
                  </a:extLst>
                </a:gridCol>
                <a:gridCol w="1372870">
                  <a:extLst>
                    <a:ext uri="{9D8B030D-6E8A-4147-A177-3AD203B41FA5}">
                      <a16:colId xmlns:a16="http://schemas.microsoft.com/office/drawing/2014/main" val="20001"/>
                    </a:ext>
                  </a:extLst>
                </a:gridCol>
                <a:gridCol w="1372870">
                  <a:extLst>
                    <a:ext uri="{9D8B030D-6E8A-4147-A177-3AD203B41FA5}">
                      <a16:colId xmlns:a16="http://schemas.microsoft.com/office/drawing/2014/main" val="20002"/>
                    </a:ext>
                  </a:extLst>
                </a:gridCol>
              </a:tblGrid>
              <a:tr h="286385">
                <a:tc>
                  <a:txBody>
                    <a:bodyPr/>
                    <a:lstStyle/>
                    <a:p>
                      <a:pPr algn="ctr">
                        <a:lnSpc>
                          <a:spcPct val="114000"/>
                        </a:lnSpc>
                        <a:spcBef>
                          <a:spcPct val="0"/>
                        </a:spcBef>
                        <a:spcAft>
                          <a:spcPct val="0"/>
                        </a:spcAft>
                      </a:pPr>
                      <a:r>
                        <a:rPr lang="en-US" altLang="zh-CN" sz="900" b="1">
                          <a:solidFill>
                            <a:srgbClr val="FFFFFF"/>
                          </a:solidFill>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tc>
                  <a:txBody>
                    <a:bodyPr/>
                    <a:lstStyle/>
                    <a:p>
                      <a:pPr algn="ctr">
                        <a:lnSpc>
                          <a:spcPct val="114000"/>
                        </a:lnSpc>
                        <a:spcBef>
                          <a:spcPct val="0"/>
                        </a:spcBef>
                        <a:spcAft>
                          <a:spcPct val="0"/>
                        </a:spcAft>
                      </a:pPr>
                      <a:r>
                        <a:rPr lang="en-US" altLang="zh-CN" sz="900" b="1">
                          <a:solidFill>
                            <a:srgbClr val="FFFFFF"/>
                          </a:solidFill>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tc>
                  <a:txBody>
                    <a:bodyPr/>
                    <a:lstStyle/>
                    <a:p>
                      <a:pPr algn="ctr">
                        <a:lnSpc>
                          <a:spcPct val="114000"/>
                        </a:lnSpc>
                        <a:spcBef>
                          <a:spcPct val="0"/>
                        </a:spcBef>
                        <a:spcAft>
                          <a:spcPct val="0"/>
                        </a:spcAft>
                      </a:pPr>
                      <a:r>
                        <a:rPr lang="en-US" altLang="zh-CN" sz="900" b="1">
                          <a:solidFill>
                            <a:srgbClr val="FFFFFF"/>
                          </a:solidFill>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extLst>
                  <a:ext uri="{0D108BD9-81ED-4DB2-BD59-A6C34878D82A}">
                    <a16:rowId xmlns:a16="http://schemas.microsoft.com/office/drawing/2014/main" val="10000"/>
                  </a:ext>
                </a:extLst>
              </a:tr>
              <a:tr h="31242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`best.pt`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训练好的最佳模型（默认加载）</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7340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`yolov8n.pt`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~6 MB</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 Nano </a:t>
                      </a:r>
                      <a:r>
                        <a:rPr lang="zh-CN" altLang="en-US" sz="900">
                          <a:latin typeface="微软雅黑" panose="020B0503020204020204" charset="-122"/>
                          <a:ea typeface="微软雅黑" panose="020B0503020204020204" charset="-122"/>
                        </a:rPr>
                        <a:t>预训练权重（回退方案）</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2"/>
                  </a:ext>
                </a:extLst>
              </a:tr>
              <a:tr h="57340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`yolov8x.pt`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~130 MB</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 XLarge </a:t>
                      </a:r>
                      <a:r>
                        <a:rPr lang="zh-CN" altLang="en-US" sz="900">
                          <a:latin typeface="微软雅黑" panose="020B0503020204020204" charset="-122"/>
                          <a:ea typeface="微软雅黑" panose="020B0503020204020204" charset="-122"/>
                        </a:rPr>
                        <a:t>预训练权重（训练起点）</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2863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`yolo26n.pt`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~6 MB</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 Nano </a:t>
                      </a:r>
                      <a:r>
                        <a:rPr lang="zh-CN" altLang="en-US" sz="900">
                          <a:latin typeface="微软雅黑" panose="020B0503020204020204" charset="-122"/>
                          <a:ea typeface="微软雅黑" panose="020B0503020204020204" charset="-122"/>
                        </a:rPr>
                        <a:t>变体</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4"/>
                  </a:ext>
                </a:extLst>
              </a:tr>
            </a:tbl>
          </a:graphicData>
        </a:graphic>
      </p:graphicFrame>
      <p:sp>
        <p:nvSpPr>
          <p:cNvPr id="5" name="AutoShape 17"/>
          <p:cNvSpPr/>
          <p:nvPr/>
        </p:nvSpPr>
        <p:spPr>
          <a:xfrm>
            <a:off x="5915660" y="461645"/>
            <a:ext cx="2598420" cy="60769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2400">
                <a:latin typeface="Noto Sans SC" panose="020B0200000000000000" charset="-122"/>
                <a:ea typeface="Noto Sans SC" panose="020B0200000000000000" charset="-122"/>
                <a:cs typeface="Noto Sans SC" panose="020B0200000000000000" charset="-122"/>
              </a:rPr>
              <a:t>附录</a:t>
            </a:r>
            <a:r>
              <a:rPr lang="en-US" altLang="zh-CN" sz="2400">
                <a:latin typeface="Noto Sans SC" panose="020B0200000000000000" charset="-122"/>
                <a:ea typeface="Noto Sans SC" panose="020B0200000000000000" charset="-122"/>
                <a:cs typeface="Noto Sans SC" panose="020B0200000000000000" charset="-122"/>
              </a:rPr>
              <a:t>A </a:t>
            </a:r>
            <a:r>
              <a:rPr lang="zh-CN" altLang="en-US" sz="2400">
                <a:latin typeface="Noto Sans SC" panose="020B0200000000000000" charset="-122"/>
                <a:ea typeface="Noto Sans SC" panose="020B0200000000000000" charset="-122"/>
                <a:cs typeface="Noto Sans SC" panose="020B0200000000000000" charset="-122"/>
              </a:rPr>
              <a:t>文件清单</a:t>
            </a:r>
          </a:p>
        </p:txBody>
      </p:sp>
      <p:graphicFrame>
        <p:nvGraphicFramePr>
          <p:cNvPr id="6" name="表格 5"/>
          <p:cNvGraphicFramePr/>
          <p:nvPr>
            <p:custDataLst>
              <p:tags r:id="rId2"/>
            </p:custDataLst>
          </p:nvPr>
        </p:nvGraphicFramePr>
        <p:xfrm>
          <a:off x="5775960" y="1189355"/>
          <a:ext cx="4661535" cy="2170430"/>
        </p:xfrm>
        <a:graphic>
          <a:graphicData uri="http://schemas.openxmlformats.org/drawingml/2006/table">
            <a:tbl>
              <a:tblPr/>
              <a:tblGrid>
                <a:gridCol w="1553845">
                  <a:extLst>
                    <a:ext uri="{9D8B030D-6E8A-4147-A177-3AD203B41FA5}">
                      <a16:colId xmlns:a16="http://schemas.microsoft.com/office/drawing/2014/main" val="20000"/>
                    </a:ext>
                  </a:extLst>
                </a:gridCol>
                <a:gridCol w="1553845">
                  <a:extLst>
                    <a:ext uri="{9D8B030D-6E8A-4147-A177-3AD203B41FA5}">
                      <a16:colId xmlns:a16="http://schemas.microsoft.com/office/drawing/2014/main" val="20001"/>
                    </a:ext>
                  </a:extLst>
                </a:gridCol>
                <a:gridCol w="1553845">
                  <a:extLst>
                    <a:ext uri="{9D8B030D-6E8A-4147-A177-3AD203B41FA5}">
                      <a16:colId xmlns:a16="http://schemas.microsoft.com/office/drawing/2014/main" val="20002"/>
                    </a:ext>
                  </a:extLst>
                </a:gridCol>
              </a:tblGrid>
              <a:tr h="287020">
                <a:tc>
                  <a:txBody>
                    <a:bodyPr/>
                    <a:lstStyle/>
                    <a:p>
                      <a:pPr algn="ctr">
                        <a:lnSpc>
                          <a:spcPct val="114000"/>
                        </a:lnSpc>
                        <a:spcBef>
                          <a:spcPct val="0"/>
                        </a:spcBef>
                        <a:spcAft>
                          <a:spcPct val="0"/>
                        </a:spcAft>
                      </a:pPr>
                      <a:r>
                        <a:rPr lang="zh-CN" sz="1100">
                          <a:latin typeface="微软雅黑" panose="020B0503020204020204" charset="-122"/>
                          <a:ea typeface="微软雅黑" panose="020B0503020204020204" charset="-122"/>
                        </a:rPr>
                        <a:t>名称</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tc>
                  <a:txBody>
                    <a:bodyPr/>
                    <a:lstStyle/>
                    <a:p>
                      <a:pPr algn="ctr">
                        <a:lnSpc>
                          <a:spcPct val="114000"/>
                        </a:lnSpc>
                        <a:spcBef>
                          <a:spcPct val="0"/>
                        </a:spcBef>
                        <a:spcAft>
                          <a:spcPct val="0"/>
                        </a:spcAft>
                      </a:pPr>
                      <a:r>
                        <a:rPr lang="zh-CN" sz="1100">
                          <a:latin typeface="微软雅黑" panose="020B0503020204020204" charset="-122"/>
                          <a:ea typeface="微软雅黑" panose="020B0503020204020204" charset="-122"/>
                        </a:rPr>
                        <a:t>源程序量</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tc>
                  <a:txBody>
                    <a:bodyPr/>
                    <a:lstStyle/>
                    <a:p>
                      <a:pPr algn="ctr">
                        <a:lnSpc>
                          <a:spcPct val="114000"/>
                        </a:lnSpc>
                        <a:spcBef>
                          <a:spcPct val="0"/>
                        </a:spcBef>
                        <a:spcAft>
                          <a:spcPct val="0"/>
                        </a:spcAft>
                      </a:pPr>
                      <a:r>
                        <a:rPr lang="zh-CN" sz="1100">
                          <a:latin typeface="微软雅黑" panose="020B0503020204020204" charset="-122"/>
                          <a:ea typeface="微软雅黑" panose="020B0503020204020204" charset="-122"/>
                        </a:rPr>
                        <a:t>主要内容</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extLst>
                  <a:ext uri="{0D108BD9-81ED-4DB2-BD59-A6C34878D82A}">
                    <a16:rowId xmlns:a16="http://schemas.microsoft.com/office/drawing/2014/main" val="10000"/>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`xinapp.py`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1565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主程序</a:t>
                      </a:r>
                      <a:r>
                        <a:rPr lang="zh-CN" altLang="en-US" sz="900">
                          <a:latin typeface="微软雅黑" panose="020B0503020204020204" charset="-122"/>
                          <a:ea typeface="微软雅黑" panose="020B0503020204020204" charset="-122"/>
                        </a:rPr>
                        <a:t> </a:t>
                      </a:r>
                      <a:r>
                        <a:rPr lang="en-US" altLang="zh-CN" sz="900">
                          <a:latin typeface="微软雅黑" panose="020B0503020204020204" charset="-122"/>
                          <a:ea typeface="微软雅黑" panose="020B0503020204020204" charset="-122"/>
                        </a:rPr>
                        <a:t>(GUI + </a:t>
                      </a:r>
                      <a:r>
                        <a:rPr lang="zh-CN" altLang="en-US" sz="900">
                          <a:latin typeface="微软雅黑" panose="020B0503020204020204" charset="-122"/>
                          <a:ea typeface="微软雅黑" panose="020B0503020204020204" charset="-122"/>
                        </a:rPr>
                        <a:t>业务逻辑</a:t>
                      </a:r>
                      <a:r>
                        <a:rPr lang="en-US" altLang="zh-CN" sz="900">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`yolov8.py`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448</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检测引擎核心</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2"/>
                  </a:ext>
                </a:extLst>
              </a:tr>
              <a:tr h="23495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`xinmywindow.py`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499</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Qt UI </a:t>
                      </a:r>
                      <a:r>
                        <a:rPr lang="zh-CN" altLang="en-US" sz="900">
                          <a:latin typeface="微软雅黑" panose="020B0503020204020204" charset="-122"/>
                          <a:ea typeface="微软雅黑" panose="020B0503020204020204" charset="-122"/>
                        </a:rPr>
                        <a:t>界面定义</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`prepare_data.py`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37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数据准备脚本</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4"/>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`requirements.txt`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23</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Python </a:t>
                      </a:r>
                      <a:r>
                        <a:rPr lang="zh-CN" altLang="en-US" sz="900">
                          <a:latin typeface="微软雅黑" panose="020B0503020204020204" charset="-122"/>
                          <a:ea typeface="微软雅黑" panose="020B0503020204020204" charset="-122"/>
                        </a:rPr>
                        <a:t>依赖</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`data.yaml`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训练配置</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6"/>
                  </a:ext>
                </a:extLst>
              </a:tr>
              <a:tr h="23495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`data/classes.txt`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类别名</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23558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`data/data.yaml`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12</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数据集配置</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8"/>
                  </a:ext>
                </a:extLst>
              </a:tr>
            </a:tbl>
          </a:graphicData>
        </a:graphic>
      </p:graphicFrame>
      <p:sp>
        <p:nvSpPr>
          <p:cNvPr id="12" name="AutoShape 17"/>
          <p:cNvSpPr/>
          <p:nvPr/>
        </p:nvSpPr>
        <p:spPr>
          <a:xfrm>
            <a:off x="5915660" y="3694430"/>
            <a:ext cx="2847975" cy="607695"/>
          </a:xfrm>
          <a:prstGeom prst="roundRect">
            <a:avLst>
              <a:gd name="adj" fmla="val 0"/>
            </a:avLst>
          </a:prstGeom>
          <a:solidFill>
            <a:srgbClr val="4F46E5">
              <a:alpha val="8000"/>
            </a:srgbClr>
          </a:solidFill>
          <a:ln w="25400" cap="flat" cmpd="sng">
            <a:noFill/>
            <a:prstDash val="solid"/>
            <a:round/>
          </a:ln>
        </p:spPr>
        <p:txBody>
          <a:bodyPr vert="horz" wrap="square" lIns="63500" tIns="63500" rIns="63500" bIns="63500" rtlCol="0" anchor="ctr"/>
          <a:lstStyle/>
          <a:p>
            <a:pPr algn="ctr">
              <a:defRPr/>
            </a:pPr>
            <a:r>
              <a:rPr lang="zh-CN" sz="2400">
                <a:latin typeface="Noto Sans SC" panose="020B0200000000000000" charset="-122"/>
                <a:ea typeface="Noto Sans SC" panose="020B0200000000000000" charset="-122"/>
                <a:cs typeface="Noto Sans SC" panose="020B0200000000000000" charset="-122"/>
              </a:rPr>
              <a:t>附录</a:t>
            </a:r>
            <a:r>
              <a:rPr lang="en-US" altLang="zh-CN" sz="2400">
                <a:latin typeface="Noto Sans SC" panose="020B0200000000000000" charset="-122"/>
                <a:ea typeface="Noto Sans SC" panose="020B0200000000000000" charset="-122"/>
                <a:cs typeface="Noto Sans SC" panose="020B0200000000000000" charset="-122"/>
              </a:rPr>
              <a:t>B </a:t>
            </a:r>
            <a:r>
              <a:rPr lang="zh-CN" altLang="en-US" sz="2400">
                <a:latin typeface="Noto Sans SC" panose="020B0200000000000000" charset="-122"/>
                <a:ea typeface="Noto Sans SC" panose="020B0200000000000000" charset="-122"/>
                <a:cs typeface="Noto Sans SC" panose="020B0200000000000000" charset="-122"/>
              </a:rPr>
              <a:t>关键设计决策</a:t>
            </a:r>
          </a:p>
        </p:txBody>
      </p:sp>
      <p:graphicFrame>
        <p:nvGraphicFramePr>
          <p:cNvPr id="20" name="表格 19"/>
          <p:cNvGraphicFramePr/>
          <p:nvPr>
            <p:custDataLst>
              <p:tags r:id="rId3"/>
            </p:custDataLst>
          </p:nvPr>
        </p:nvGraphicFramePr>
        <p:xfrm>
          <a:off x="5775960" y="4370705"/>
          <a:ext cx="4662170" cy="2057400"/>
        </p:xfrm>
        <a:graphic>
          <a:graphicData uri="http://schemas.openxmlformats.org/drawingml/2006/table">
            <a:tbl>
              <a:tblPr/>
              <a:tblGrid>
                <a:gridCol w="2331085">
                  <a:extLst>
                    <a:ext uri="{9D8B030D-6E8A-4147-A177-3AD203B41FA5}">
                      <a16:colId xmlns:a16="http://schemas.microsoft.com/office/drawing/2014/main" val="20000"/>
                    </a:ext>
                  </a:extLst>
                </a:gridCol>
                <a:gridCol w="2331085">
                  <a:extLst>
                    <a:ext uri="{9D8B030D-6E8A-4147-A177-3AD203B41FA5}">
                      <a16:colId xmlns:a16="http://schemas.microsoft.com/office/drawing/2014/main" val="20001"/>
                    </a:ext>
                  </a:extLst>
                </a:gridCol>
              </a:tblGrid>
              <a:tr h="199390">
                <a:tc>
                  <a:txBody>
                    <a:bodyPr/>
                    <a:lstStyle/>
                    <a:p>
                      <a:pPr algn="ctr">
                        <a:spcBef>
                          <a:spcPct val="0"/>
                        </a:spcBef>
                        <a:spcAft>
                          <a:spcPct val="0"/>
                        </a:spcAft>
                      </a:pPr>
                      <a:endParaRPr sz="1100">
                        <a:latin typeface="微软雅黑" panose="020B0503020204020204" charset="-122"/>
                        <a:ea typeface="微软雅黑" panose="020B0503020204020204"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tc>
                  <a:txBody>
                    <a:bodyPr/>
                    <a:lstStyle/>
                    <a:p>
                      <a:pPr algn="ctr">
                        <a:lnSpc>
                          <a:spcPct val="114000"/>
                        </a:lnSpc>
                        <a:spcBef>
                          <a:spcPct val="0"/>
                        </a:spcBef>
                        <a:spcAft>
                          <a:spcPct val="0"/>
                        </a:spcAft>
                      </a:pPr>
                      <a:r>
                        <a:rPr lang="en-US" altLang="zh-CN" sz="900" b="1">
                          <a:solidFill>
                            <a:srgbClr val="FFFFFF"/>
                          </a:solidFill>
                          <a:latin typeface="微软雅黑" panose="020B0503020204020204" charset="-122"/>
                          <a:ea typeface="微软雅黑" panose="020B0503020204020204" charset="-122"/>
                        </a:rPr>
                        <a: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A5276"/>
                    </a:solidFill>
                  </a:tcPr>
                </a:tc>
                <a:extLst>
                  <a:ext uri="{0D108BD9-81ED-4DB2-BD59-A6C34878D82A}">
                    <a16:rowId xmlns:a16="http://schemas.microsoft.com/office/drawing/2014/main" val="10000"/>
                  </a:ext>
                </a:extLst>
              </a:tr>
              <a:tr h="18542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YOLOv8 </a:t>
                      </a:r>
                      <a:r>
                        <a:rPr lang="zh-CN" altLang="en-US" sz="900">
                          <a:latin typeface="微软雅黑" panose="020B0503020204020204" charset="-122"/>
                          <a:ea typeface="微软雅黑" panose="020B0503020204020204" charset="-122"/>
                        </a:rPr>
                        <a:t>而非 </a:t>
                      </a:r>
                      <a:r>
                        <a:rPr lang="en-US" altLang="zh-CN" sz="900">
                          <a:latin typeface="微软雅黑" panose="020B0503020204020204" charset="-122"/>
                          <a:ea typeface="微软雅黑" panose="020B0503020204020204" charset="-122"/>
                        </a:rPr>
                        <a:t>YOLOv5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更好的精度</a:t>
                      </a:r>
                      <a:r>
                        <a:rPr lang="en-US" altLang="zh-CN" sz="900">
                          <a:latin typeface="微软雅黑" panose="020B0503020204020204" charset="-122"/>
                          <a:ea typeface="微软雅黑" panose="020B0503020204020204" charset="-122"/>
                        </a:rPr>
                        <a:t>/</a:t>
                      </a:r>
                      <a:r>
                        <a:rPr lang="zh-CN" altLang="en-US" sz="900">
                          <a:latin typeface="微软雅黑" panose="020B0503020204020204" charset="-122"/>
                          <a:ea typeface="微软雅黑" panose="020B0503020204020204" charset="-122"/>
                        </a:rPr>
                        <a:t>速度平衡，原生活跃维护</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8605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PyQt5 </a:t>
                      </a:r>
                      <a:r>
                        <a:rPr lang="zh-CN" altLang="en-US" sz="900">
                          <a:latin typeface="微软雅黑" panose="020B0503020204020204" charset="-122"/>
                          <a:ea typeface="微软雅黑" panose="020B0503020204020204" charset="-122"/>
                        </a:rPr>
                        <a:t>而非 </a:t>
                      </a:r>
                      <a:r>
                        <a:rPr lang="en-US" altLang="zh-CN" sz="900">
                          <a:latin typeface="微软雅黑" panose="020B0503020204020204" charset="-122"/>
                          <a:ea typeface="微软雅黑" panose="020B0503020204020204" charset="-122"/>
                        </a:rPr>
                        <a:t>tkinter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更丰富的控件、样式表支持、原生外观</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2"/>
                  </a:ext>
                </a:extLst>
              </a:tr>
              <a:tr h="18605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PIL </a:t>
                      </a:r>
                      <a:r>
                        <a:rPr lang="zh-CN" altLang="en-US" sz="900">
                          <a:latin typeface="微软雅黑" panose="020B0503020204020204" charset="-122"/>
                          <a:ea typeface="微软雅黑" panose="020B0503020204020204" charset="-122"/>
                        </a:rPr>
                        <a:t>绘制中文标注</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OpenCV </a:t>
                      </a:r>
                      <a:r>
                        <a:rPr lang="zh-CN" altLang="en-US" sz="900">
                          <a:latin typeface="微软雅黑" panose="020B0503020204020204" charset="-122"/>
                          <a:ea typeface="微软雅黑" panose="020B0503020204020204" charset="-122"/>
                        </a:rPr>
                        <a:t>的 </a:t>
                      </a:r>
                      <a:r>
                        <a:rPr lang="en-US" altLang="zh-CN" sz="900">
                          <a:latin typeface="微软雅黑" panose="020B0503020204020204" charset="-122"/>
                          <a:ea typeface="微软雅黑" panose="020B0503020204020204" charset="-122"/>
                        </a:rPr>
                        <a:t>`cv2.putText()` </a:t>
                      </a:r>
                      <a:r>
                        <a:rPr lang="zh-CN" altLang="en-US" sz="900">
                          <a:latin typeface="微软雅黑" panose="020B0503020204020204" charset="-122"/>
                          <a:ea typeface="微软雅黑" panose="020B0503020204020204" charset="-122"/>
                        </a:rPr>
                        <a:t>不支持中文</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18605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QThread </a:t>
                      </a:r>
                      <a:r>
                        <a:rPr lang="zh-CN" altLang="en-US" sz="900">
                          <a:latin typeface="微软雅黑" panose="020B0503020204020204" charset="-122"/>
                          <a:ea typeface="微软雅黑" panose="020B0503020204020204" charset="-122"/>
                        </a:rPr>
                        <a:t>后台处理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避免</a:t>
                      </a:r>
                      <a:r>
                        <a:rPr lang="zh-CN" altLang="en-US" sz="900">
                          <a:latin typeface="微软雅黑" panose="020B0503020204020204" charset="-122"/>
                          <a:ea typeface="微软雅黑" panose="020B0503020204020204" charset="-122"/>
                        </a:rPr>
                        <a:t> </a:t>
                      </a:r>
                      <a:r>
                        <a:rPr lang="en-US" altLang="zh-CN" sz="900">
                          <a:latin typeface="微软雅黑" panose="020B0503020204020204" charset="-122"/>
                          <a:ea typeface="微软雅黑" panose="020B0503020204020204" charset="-122"/>
                        </a:rPr>
                        <a:t>GUI </a:t>
                      </a:r>
                      <a:r>
                        <a:rPr lang="zh-CN" altLang="en-US" sz="900">
                          <a:latin typeface="微软雅黑" panose="020B0503020204020204" charset="-122"/>
                          <a:ea typeface="微软雅黑" panose="020B0503020204020204" charset="-122"/>
                        </a:rPr>
                        <a:t>冻结，保持界面响应</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4"/>
                  </a:ext>
                </a:extLst>
              </a:tr>
              <a:tr h="185420">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懒加载单例模型</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避免重复加载，内存复用</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186055">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信号</a:t>
                      </a:r>
                      <a:r>
                        <a:rPr lang="en-US" altLang="zh-CN" sz="900">
                          <a:latin typeface="微软雅黑" panose="020B0503020204020204" charset="-122"/>
                          <a:ea typeface="微软雅黑" panose="020B0503020204020204" charset="-122"/>
                        </a:rPr>
                        <a:t>/</a:t>
                      </a:r>
                      <a:r>
                        <a:rPr lang="zh-CN" altLang="en-US" sz="900">
                          <a:latin typeface="微软雅黑" panose="020B0503020204020204" charset="-122"/>
                          <a:ea typeface="微软雅黑" panose="020B0503020204020204" charset="-122"/>
                        </a:rPr>
                        <a:t>槽通信</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Qt </a:t>
                      </a:r>
                      <a:r>
                        <a:rPr lang="zh-CN" altLang="en-US" sz="900">
                          <a:latin typeface="微软雅黑" panose="020B0503020204020204" charset="-122"/>
                          <a:ea typeface="微软雅黑" panose="020B0503020204020204" charset="-122"/>
                        </a:rPr>
                        <a:t>标准线程间通信机制，线程安全</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6"/>
                  </a:ext>
                </a:extLst>
              </a:tr>
              <a:tr h="18542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80/20 </a:t>
                      </a:r>
                      <a:r>
                        <a:rPr lang="zh-CN" altLang="en-US" sz="900">
                          <a:latin typeface="微软雅黑" panose="020B0503020204020204" charset="-122"/>
                          <a:ea typeface="微软雅黑" panose="020B0503020204020204" charset="-122"/>
                        </a:rPr>
                        <a:t>数据集划分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标准机器学习实践</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186055">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AdamW + cos_lr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更好的收敛性和泛化能力</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08"/>
                  </a:ext>
                </a:extLst>
              </a:tr>
              <a:tr h="185420">
                <a:tc>
                  <a:txBody>
                    <a:bodyPr/>
                    <a:lstStyle/>
                    <a:p>
                      <a:pPr>
                        <a:lnSpc>
                          <a:spcPct val="114000"/>
                        </a:lnSpc>
                        <a:spcBef>
                          <a:spcPct val="0"/>
                        </a:spcBef>
                        <a:spcAft>
                          <a:spcPct val="0"/>
                        </a:spcAft>
                      </a:pPr>
                      <a:r>
                        <a:rPr lang="en-US" altLang="zh-CN" sz="900">
                          <a:latin typeface="微软雅黑" panose="020B0503020204020204" charset="-122"/>
                          <a:ea typeface="微软雅黑" panose="020B0503020204020204" charset="-122"/>
                        </a:rPr>
                        <a:t>AMP </a:t>
                      </a:r>
                      <a:r>
                        <a:rPr lang="zh-CN" altLang="en-US" sz="900">
                          <a:latin typeface="微软雅黑" panose="020B0503020204020204" charset="-122"/>
                          <a:ea typeface="微软雅黑" panose="020B0503020204020204" charset="-122"/>
                        </a:rPr>
                        <a:t>混合精度</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加速训练，减少显存占用</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9"/>
                  </a:ext>
                </a:extLst>
              </a:tr>
              <a:tr h="186055">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断点续训</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tc>
                  <a:txBody>
                    <a:bodyPr/>
                    <a:lstStyle/>
                    <a:p>
                      <a:pPr>
                        <a:lnSpc>
                          <a:spcPct val="114000"/>
                        </a:lnSpc>
                        <a:spcBef>
                          <a:spcPct val="0"/>
                        </a:spcBef>
                        <a:spcAft>
                          <a:spcPct val="0"/>
                        </a:spcAft>
                      </a:pPr>
                      <a:r>
                        <a:rPr lang="zh-CN" sz="900">
                          <a:latin typeface="微软雅黑" panose="020B0503020204020204" charset="-122"/>
                          <a:ea typeface="微软雅黑" panose="020B0503020204020204" charset="-122"/>
                        </a:rPr>
                        <a:t>防止意外中断导致训练进度丢失</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BF5FB"/>
                    </a:solidFill>
                  </a:tcP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17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762000" y="4572000"/>
            <a:ext cx="1016000" cy="50800"/>
          </a:xfrm>
          <a:prstGeom prst="roundRect">
            <a:avLst>
              <a:gd name="adj" fmla="val 0"/>
            </a:avLst>
          </a:prstGeom>
          <a:solidFill>
            <a:srgbClr val="4F46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5080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60,&quot;left&quot;:60,&quot;top&quot;:18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60,&quot;left&quot;:60,&quot;top&quot;:18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60,&quot;left&quot;:60,&quot;top&quot;:18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80.9,&quot;left&quot;:54.84999617292897,&quot;top&quot;:89.5,&quot;width&quot;:894.100003827071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480,&quot;top&quot;:130,&quot;width&quot;:42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08,&quot;left&quot;:60,&quot;top&quot;:102,&quot;width&quot;:840}"/>
</p:tagLst>
</file>

<file path=ppt/tags/tag89.xml><?xml version="1.0" encoding="utf-8"?>
<p:tagLst xmlns:a="http://schemas.openxmlformats.org/drawingml/2006/main" xmlns:r="http://schemas.openxmlformats.org/officeDocument/2006/relationships" xmlns:p="http://schemas.openxmlformats.org/presentationml/2006/main">
  <p:tag name="TABLE_ENDDRAG_ORIGIN_RECT" val="324*158"/>
  <p:tag name="TABLE_ENDDRAG_RECT" val="81*167*324*158"/>
</p:tagLst>
</file>

<file path=ppt/tags/tag90.xml><?xml version="1.0" encoding="utf-8"?>
<p:tagLst xmlns:a="http://schemas.openxmlformats.org/drawingml/2006/main" xmlns:r="http://schemas.openxmlformats.org/officeDocument/2006/relationships" xmlns:p="http://schemas.openxmlformats.org/presentationml/2006/main">
  <p:tag name="TABLE_ENDDRAG_ORIGIN_RECT" val="366*170"/>
  <p:tag name="TABLE_ENDDRAG_RECT" val="454*107*366*170"/>
</p:tagLst>
</file>

<file path=ppt/tags/tag91.xml><?xml version="1.0" encoding="utf-8"?>
<p:tagLst xmlns:a="http://schemas.openxmlformats.org/drawingml/2006/main" xmlns:r="http://schemas.openxmlformats.org/officeDocument/2006/relationships" xmlns:p="http://schemas.openxmlformats.org/presentationml/2006/main">
  <p:tag name="TABLE_ENDDRAG_ORIGIN_RECT" val="367*162"/>
  <p:tag name="TABLE_ENDDRAG_RECT" val="454*344*367*162"/>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1821</Words>
  <Application>Microsoft Office PowerPoint</Application>
  <PresentationFormat>宽屏</PresentationFormat>
  <Paragraphs>350</Paragraphs>
  <Slides>33</Slides>
  <Notes>33</Notes>
  <HiddenSlides>0</HiddenSlides>
  <MMClips>0</MMClips>
  <ScaleCrop>false</ScaleCrop>
  <HeadingPairs>
    <vt:vector size="8" baseType="variant">
      <vt:variant>
        <vt:lpstr>已用的字体</vt:lpstr>
      </vt:variant>
      <vt:variant>
        <vt:i4>3</vt:i4>
      </vt:variant>
      <vt:variant>
        <vt:lpstr>主题</vt:lpstr>
      </vt:variant>
      <vt:variant>
        <vt:i4>20</vt:i4>
      </vt:variant>
      <vt:variant>
        <vt:lpstr>嵌入 OLE 服务器</vt:lpstr>
      </vt:variant>
      <vt:variant>
        <vt:i4>3</vt:i4>
      </vt:variant>
      <vt:variant>
        <vt:lpstr>幻灯片标题</vt:lpstr>
      </vt:variant>
      <vt:variant>
        <vt:i4>33</vt:i4>
      </vt:variant>
    </vt:vector>
  </HeadingPairs>
  <TitlesOfParts>
    <vt:vector size="59" baseType="lpstr">
      <vt:lpstr>Noto Sans SC</vt:lpstr>
      <vt:lpstr>微软雅黑</vt:lpstr>
      <vt:lpstr>Arial</vt:lpstr>
      <vt:lpstr>Office 主题​​</vt:lpstr>
      <vt:lpstr>默认主题</vt:lpstr>
      <vt:lpstr>1_默认主题</vt:lpstr>
      <vt:lpstr>2_默认主题</vt:lpstr>
      <vt:lpstr>3_默认主题</vt:lpstr>
      <vt:lpstr>4_默认主题</vt:lpstr>
      <vt:lpstr>5_默认主题</vt:lpstr>
      <vt:lpstr>6_默认主题</vt:lpstr>
      <vt:lpstr>7_默认主题</vt:lpstr>
      <vt:lpstr>8_默认主题</vt:lpstr>
      <vt:lpstr>9_默认主题</vt:lpstr>
      <vt:lpstr>10_默认主题</vt:lpstr>
      <vt:lpstr>11_默认主题</vt:lpstr>
      <vt:lpstr>12_默认主题</vt:lpstr>
      <vt:lpstr>13_默认主题</vt:lpstr>
      <vt:lpstr>14_默认主题</vt:lpstr>
      <vt:lpstr>15_默认主题</vt:lpstr>
      <vt:lpstr>16_默认主题</vt:lpstr>
      <vt:lpstr>17_默认主题</vt:lpstr>
      <vt:lpstr>18_默认主题</vt:lpstr>
      <vt:lpstr>Microsoft Excel Worksheet</vt:lpstr>
      <vt:lpstr>Microsoft Word Document</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佳宁 郭</cp:lastModifiedBy>
  <cp:revision>11</cp:revision>
  <dcterms:created xsi:type="dcterms:W3CDTF">2026-06-26T00:58:00Z</dcterms:created>
  <dcterms:modified xsi:type="dcterms:W3CDTF">2026-07-09T15:26:33Z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{"Label":"1","ContentProducer":"001191110102MACQD9K64010000","ProduceID":"7655495597357288408","ReservedCode1":"","ContentPropagator":"","PropagateID":"","ReservedCode2":""}</vt:lpwstr>
  </property>
  <property fmtid="{D5CDD505-2E9C-101B-9397-08002B2CF9AE}" pid="3" name="KSOProductBuildVer">
    <vt:lpwstr>2052-12.1.0.26375</vt:lpwstr>
  </property>
  <property fmtid="{D5CDD505-2E9C-101B-9397-08002B2CF9AE}" pid="4" name="ICV">
    <vt:lpwstr>76D47F87DAB9457EA0C971C850C71C0C_12</vt:lpwstr>
  </property>
</Properties>
</file>